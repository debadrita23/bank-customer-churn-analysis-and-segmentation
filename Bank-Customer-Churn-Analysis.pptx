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202" d="100"/>
          <a:sy n="202" d="100"/>
        </p:scale>
        <p:origin x="54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36822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svg"/><Relationship Id="rId4" Type="http://schemas.openxmlformats.org/officeDocument/2006/relationships/image" Target="../media/image20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7" Type="http://schemas.openxmlformats.org/officeDocument/2006/relationships/image" Target="../media/image29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svg"/><Relationship Id="rId5" Type="http://schemas.openxmlformats.org/officeDocument/2006/relationships/image" Target="../media/image27.svg"/><Relationship Id="rId4" Type="http://schemas.openxmlformats.org/officeDocument/2006/relationships/image" Target="../media/image26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svg"/><Relationship Id="rId5" Type="http://schemas.openxmlformats.org/officeDocument/2006/relationships/image" Target="../media/image32.svg"/><Relationship Id="rId4" Type="http://schemas.openxmlformats.org/officeDocument/2006/relationships/image" Target="../media/image31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debadrita-deb-021772195/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0" y="-771525"/>
            <a:ext cx="4114800" cy="4114800"/>
          </a:xfrm>
          <a:prstGeom prst="ellipse">
            <a:avLst/>
          </a:prstGeom>
          <a:solidFill>
            <a:srgbClr val="F4E8C1"/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2457450"/>
            <a:ext cx="3200400" cy="3200400"/>
          </a:xfrm>
          <a:prstGeom prst="ellipse">
            <a:avLst/>
          </a:prstGeom>
          <a:solidFill>
            <a:srgbClr val="AED9E0"/>
          </a:solidFill>
          <a:ln/>
        </p:spPr>
      </p:sp>
      <p:sp>
        <p:nvSpPr>
          <p:cNvPr id="5" name="Shape 3"/>
          <p:cNvSpPr/>
          <p:nvPr/>
        </p:nvSpPr>
        <p:spPr>
          <a:xfrm rot="900000">
            <a:off x="5028233" y="1028216"/>
            <a:ext cx="733425" cy="2195513"/>
          </a:xfrm>
          <a:prstGeom prst="roundRect">
            <a:avLst>
              <a:gd name="adj" fmla="val 62176"/>
            </a:avLst>
          </a:prstGeom>
          <a:solidFill>
            <a:srgbClr val="FFBCA6"/>
          </a:solidFill>
          <a:ln/>
        </p:spPr>
      </p:sp>
      <p:sp>
        <p:nvSpPr>
          <p:cNvPr id="6" name="Shape 4"/>
          <p:cNvSpPr/>
          <p:nvPr/>
        </p:nvSpPr>
        <p:spPr>
          <a:xfrm>
            <a:off x="6218895" y="2761320"/>
            <a:ext cx="1095375" cy="1095375"/>
          </a:xfrm>
          <a:prstGeom prst="ellipse">
            <a:avLst/>
          </a:prstGeom>
          <a:solidFill>
            <a:srgbClr val="C8B6FF"/>
          </a:solidFill>
          <a:ln/>
        </p:spPr>
      </p:sp>
      <p:sp>
        <p:nvSpPr>
          <p:cNvPr id="7" name="Shape 5"/>
          <p:cNvSpPr/>
          <p:nvPr/>
        </p:nvSpPr>
        <p:spPr>
          <a:xfrm>
            <a:off x="8046281" y="2056916"/>
            <a:ext cx="366712" cy="366712"/>
          </a:xfrm>
          <a:prstGeom prst="ellipse">
            <a:avLst/>
          </a:prstGeom>
          <a:solidFill>
            <a:srgbClr val="AED9E0"/>
          </a:solidFill>
          <a:ln/>
        </p:spPr>
      </p:sp>
      <p:sp>
        <p:nvSpPr>
          <p:cNvPr id="8" name="Shape 6"/>
          <p:cNvSpPr/>
          <p:nvPr/>
        </p:nvSpPr>
        <p:spPr>
          <a:xfrm>
            <a:off x="731007" y="411882"/>
            <a:ext cx="7681912" cy="4319588"/>
          </a:xfrm>
          <a:prstGeom prst="roundRect">
            <a:avLst>
              <a:gd name="adj" fmla="val 896"/>
            </a:avLst>
          </a:prstGeom>
          <a:solidFill>
            <a:srgbClr val="FFFFFF">
              <a:alpha val="4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096268" y="616148"/>
            <a:ext cx="276225" cy="276225"/>
          </a:xfrm>
          <a:prstGeom prst="roundRect">
            <a:avLst>
              <a:gd name="adj" fmla="val 21917"/>
            </a:avLst>
          </a:prstGeom>
          <a:solidFill>
            <a:srgbClr val="2D3748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2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462646" y="651867"/>
            <a:ext cx="776287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000" b="1" dirty="0">
                <a:solidFill>
                  <a:srgbClr val="2D374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ds.portfolio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260543" y="644686"/>
            <a:ext cx="785813" cy="219075"/>
          </a:xfrm>
          <a:prstGeom prst="roundRect">
            <a:avLst>
              <a:gd name="adj" fmla="val 52174"/>
            </a:avLst>
          </a:prstGeom>
          <a:solidFill>
            <a:srgbClr val="FFBCA6"/>
          </a:solidFill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00" b="1" dirty="0">
                <a:solidFill>
                  <a:srgbClr val="2D374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    Case Study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1096677" y="1404751"/>
            <a:ext cx="1914525" cy="190500"/>
          </a:xfrm>
          <a:prstGeom prst="roundRect">
            <a:avLst>
              <a:gd name="adj" fmla="val 28800"/>
            </a:avLst>
          </a:prstGeom>
          <a:solidFill>
            <a:srgbClr val="E2E8F0"/>
          </a:solidFill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80"/>
              </a:lnSpc>
              <a:spcAft>
                <a:spcPts val="810"/>
              </a:spcAft>
              <a:buNone/>
            </a:pPr>
            <a:r>
              <a:rPr lang="en-US" sz="700" b="1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 SCIENCE PORTFOLIO · 2026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097235" y="1697013"/>
            <a:ext cx="5486400" cy="11906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687"/>
              </a:lnSpc>
              <a:buNone/>
            </a:pPr>
            <a:r>
              <a:rPr lang="en-US" sz="4400" b="1" dirty="0">
                <a:solidFill>
                  <a:srgbClr val="1A20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Bank Customer Churn Analysis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1097235" y="3042196"/>
            <a:ext cx="5029200" cy="4857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15"/>
              </a:lnSpc>
              <a:spcBef>
                <a:spcPts val="1215"/>
              </a:spcBef>
              <a:buNone/>
            </a:pPr>
            <a:r>
              <a:rPr lang="en-US" sz="13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Predicting at-risk customers and uncovering behavioural segments across 10,000 retail banking accounts.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719" y="4192972"/>
            <a:ext cx="6948488" cy="333375"/>
          </a:xfrm>
          <a:prstGeom prst="rect">
            <a:avLst/>
          </a:prstGeom>
          <a:ln/>
        </p:spPr>
      </p:sp>
      <p:sp>
        <p:nvSpPr>
          <p:cNvPr id="16" name="Text 14"/>
          <p:cNvSpPr/>
          <p:nvPr/>
        </p:nvSpPr>
        <p:spPr>
          <a:xfrm>
            <a:off x="1096900" y="4360590"/>
            <a:ext cx="2619375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96"/>
              </a:lnSpc>
              <a:buNone/>
            </a:pPr>
            <a:r>
              <a:rPr lang="en-US" sz="800" dirty="0">
                <a:solidFill>
                  <a:srgbClr val="71809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Python · Pandas · Scikit-learn · Seaborn · Matplotlib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7590234" y="4398690"/>
            <a:ext cx="90488" cy="90488"/>
          </a:xfrm>
          <a:prstGeom prst="ellipse">
            <a:avLst/>
          </a:prstGeom>
          <a:solidFill>
            <a:srgbClr val="FFBCA6"/>
          </a:solidFill>
          <a:ln/>
        </p:spPr>
      </p:sp>
      <p:sp>
        <p:nvSpPr>
          <p:cNvPr id="18" name="Shape 16"/>
          <p:cNvSpPr/>
          <p:nvPr/>
        </p:nvSpPr>
        <p:spPr>
          <a:xfrm>
            <a:off x="7772995" y="4398690"/>
            <a:ext cx="90488" cy="90488"/>
          </a:xfrm>
          <a:prstGeom prst="ellipse">
            <a:avLst/>
          </a:prstGeom>
          <a:solidFill>
            <a:srgbClr val="AED9E0"/>
          </a:solidFill>
          <a:ln/>
        </p:spPr>
      </p:sp>
      <p:sp>
        <p:nvSpPr>
          <p:cNvPr id="19" name="Shape 17"/>
          <p:cNvSpPr/>
          <p:nvPr/>
        </p:nvSpPr>
        <p:spPr>
          <a:xfrm>
            <a:off x="7955756" y="4398690"/>
            <a:ext cx="90488" cy="90488"/>
          </a:xfrm>
          <a:prstGeom prst="ellipse">
            <a:avLst/>
          </a:prstGeom>
          <a:solidFill>
            <a:srgbClr val="C8B6FF"/>
          </a:solidFill>
          <a:ln/>
        </p:spPr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7719" y="4192972"/>
            <a:ext cx="6948488" cy="3333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0" y="-771525"/>
            <a:ext cx="4114800" cy="4114800"/>
          </a:xfrm>
          <a:prstGeom prst="ellipse">
            <a:avLst/>
          </a:prstGeom>
          <a:solidFill>
            <a:srgbClr val="F4E8C1"/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2457450"/>
            <a:ext cx="3200400" cy="3200400"/>
          </a:xfrm>
          <a:prstGeom prst="ellipse">
            <a:avLst/>
          </a:prstGeom>
          <a:solidFill>
            <a:srgbClr val="AED9E0"/>
          </a:solidFill>
          <a:ln/>
        </p:spPr>
      </p:sp>
      <p:sp>
        <p:nvSpPr>
          <p:cNvPr id="5" name="Shape 3"/>
          <p:cNvSpPr/>
          <p:nvPr/>
        </p:nvSpPr>
        <p:spPr>
          <a:xfrm rot="900000">
            <a:off x="5028233" y="1028216"/>
            <a:ext cx="733425" cy="2195513"/>
          </a:xfrm>
          <a:prstGeom prst="roundRect">
            <a:avLst>
              <a:gd name="adj" fmla="val 62176"/>
            </a:avLst>
          </a:prstGeom>
          <a:solidFill>
            <a:srgbClr val="FFBCA6"/>
          </a:solidFill>
          <a:ln/>
        </p:spPr>
      </p:sp>
      <p:sp>
        <p:nvSpPr>
          <p:cNvPr id="6" name="Shape 4"/>
          <p:cNvSpPr/>
          <p:nvPr/>
        </p:nvSpPr>
        <p:spPr>
          <a:xfrm>
            <a:off x="6218895" y="2761320"/>
            <a:ext cx="1095375" cy="1095375"/>
          </a:xfrm>
          <a:prstGeom prst="ellipse">
            <a:avLst/>
          </a:prstGeom>
          <a:solidFill>
            <a:srgbClr val="C8B6FF"/>
          </a:solidFill>
          <a:ln/>
        </p:spPr>
      </p:sp>
      <p:sp>
        <p:nvSpPr>
          <p:cNvPr id="7" name="Shape 5"/>
          <p:cNvSpPr/>
          <p:nvPr/>
        </p:nvSpPr>
        <p:spPr>
          <a:xfrm>
            <a:off x="8046281" y="2056916"/>
            <a:ext cx="366712" cy="366712"/>
          </a:xfrm>
          <a:prstGeom prst="ellipse">
            <a:avLst/>
          </a:prstGeom>
          <a:solidFill>
            <a:srgbClr val="AED9E0"/>
          </a:solidFill>
          <a:ln/>
        </p:spPr>
      </p:sp>
      <p:sp>
        <p:nvSpPr>
          <p:cNvPr id="8" name="Shape 6"/>
          <p:cNvSpPr/>
          <p:nvPr/>
        </p:nvSpPr>
        <p:spPr>
          <a:xfrm>
            <a:off x="731007" y="411882"/>
            <a:ext cx="7681912" cy="4319588"/>
          </a:xfrm>
          <a:prstGeom prst="roundRect">
            <a:avLst>
              <a:gd name="adj" fmla="val 896"/>
            </a:avLst>
          </a:prstGeom>
          <a:solidFill>
            <a:srgbClr val="FFFFFF">
              <a:alpha val="4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096268" y="616148"/>
            <a:ext cx="276225" cy="276225"/>
          </a:xfrm>
          <a:prstGeom prst="roundRect">
            <a:avLst>
              <a:gd name="adj" fmla="val 21917"/>
            </a:avLst>
          </a:prstGeom>
          <a:solidFill>
            <a:srgbClr val="2D3748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2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462646" y="651867"/>
            <a:ext cx="776287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000" b="1" dirty="0">
                <a:solidFill>
                  <a:srgbClr val="2D374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ds.portfolio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008837" y="644686"/>
            <a:ext cx="1038225" cy="219075"/>
          </a:xfrm>
          <a:prstGeom prst="roundRect">
            <a:avLst>
              <a:gd name="adj" fmla="val 52174"/>
            </a:avLst>
          </a:prstGeom>
          <a:solidFill>
            <a:srgbClr val="FFBCA6"/>
          </a:solidFill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00" b="1" dirty="0">
                <a:solidFill>
                  <a:srgbClr val="2D374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    Project Overview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1097719" y="1393627"/>
            <a:ext cx="3290887" cy="7620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10"/>
              </a:lnSpc>
              <a:spcAft>
                <a:spcPts val="1215"/>
              </a:spcAft>
              <a:buNone/>
            </a:pPr>
            <a:r>
              <a:rPr lang="en-US" sz="2700" b="1" dirty="0">
                <a:solidFill>
                  <a:srgbClr val="1A20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Why churn matters in retail banking.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1097719" y="2311933"/>
            <a:ext cx="3290887" cy="10953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28"/>
              </a:lnSpc>
              <a:spcAft>
                <a:spcPts val="1215"/>
              </a:spcAft>
              <a:buNone/>
            </a:pPr>
            <a:r>
              <a:rPr lang="en-US" sz="11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Acquiring a new customer costs </a:t>
            </a:r>
            <a:r>
              <a:rPr lang="en-US" sz="1100" b="1" dirty="0">
                <a:solidFill>
                  <a:srgbClr val="1A20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5–7× more</a:t>
            </a:r>
            <a:r>
              <a:rPr lang="en-US" sz="11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than retaining one. A small drop in churn translates to meaningful revenue preserved — both deposits retained and fee income protected.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97719" y="3562350"/>
            <a:ext cx="3290887" cy="57626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2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project tackles two connected questions: </a:t>
            </a:r>
            <a:r>
              <a:rPr lang="en-US" sz="1000" i="1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which</a:t>
            </a:r>
            <a:r>
              <a:rPr lang="en-US" sz="10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customers are likely to leave, and </a:t>
            </a:r>
            <a:r>
              <a:rPr lang="en-US" sz="1000" i="1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what kinds</a:t>
            </a:r>
            <a:r>
              <a:rPr lang="en-US" sz="10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of customers the bank actually serves.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5319" y="1097533"/>
            <a:ext cx="3290887" cy="1033462"/>
          </a:xfrm>
          <a:prstGeom prst="roundRect">
            <a:avLst>
              <a:gd name="adj" fmla="val 11743"/>
            </a:avLst>
          </a:prstGeom>
          <a:solidFill>
            <a:srgbClr val="FFFFFF"/>
          </a:solidFill>
          <a:ln/>
          <a:effectLst>
            <a:outerShdw blurRad="182880" dist="9144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83919" y="1325203"/>
            <a:ext cx="2833687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spcAft>
                <a:spcPts val="203"/>
              </a:spcAft>
              <a:buNone/>
            </a:pPr>
            <a:r>
              <a:rPr lang="en-US" sz="700" dirty="0">
                <a:solidFill>
                  <a:srgbClr val="71809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DATASET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4983919" y="1488318"/>
            <a:ext cx="2833687" cy="2381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72"/>
              </a:lnSpc>
              <a:buNone/>
            </a:pPr>
            <a:r>
              <a:rPr lang="en-US" sz="1800" b="1" dirty="0">
                <a:solidFill>
                  <a:srgbClr val="1A20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10,000 customers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983919" y="1751186"/>
            <a:ext cx="2833687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8"/>
              </a:lnSpc>
              <a:spcBef>
                <a:spcPts val="203"/>
              </a:spcBef>
              <a:buNone/>
            </a:pPr>
            <a:r>
              <a:rPr lang="en-US" sz="7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France · Germany · Spain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4755319" y="2234729"/>
            <a:ext cx="3290887" cy="1033462"/>
          </a:xfrm>
          <a:prstGeom prst="roundRect">
            <a:avLst>
              <a:gd name="adj" fmla="val 11743"/>
            </a:avLst>
          </a:prstGeom>
          <a:solidFill>
            <a:srgbClr val="FFFFFF"/>
          </a:solidFill>
          <a:ln/>
          <a:effectLst>
            <a:outerShdw blurRad="182880" dist="9144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983919" y="2462399"/>
            <a:ext cx="2833687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spcAft>
                <a:spcPts val="203"/>
              </a:spcAft>
              <a:buNone/>
            </a:pPr>
            <a:r>
              <a:rPr lang="en-US" sz="700" dirty="0">
                <a:solidFill>
                  <a:srgbClr val="71809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SOURCE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4983919" y="2625514"/>
            <a:ext cx="2833687" cy="2381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72"/>
              </a:lnSpc>
              <a:buNone/>
            </a:pPr>
            <a:r>
              <a:rPr lang="en-US" sz="1800" b="1" dirty="0">
                <a:solidFill>
                  <a:srgbClr val="1A20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Messy Excel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983919" y="2888382"/>
            <a:ext cx="2833687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8"/>
              </a:lnSpc>
              <a:spcBef>
                <a:spcPts val="203"/>
              </a:spcBef>
              <a:buNone/>
            </a:pPr>
            <a:r>
              <a:rPr lang="en-US" sz="7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Two sheets · joined on CustomerId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4755319" y="3371701"/>
            <a:ext cx="3290887" cy="1062038"/>
          </a:xfrm>
          <a:prstGeom prst="roundRect">
            <a:avLst>
              <a:gd name="adj" fmla="val 11119"/>
            </a:avLst>
          </a:prstGeom>
          <a:solidFill>
            <a:srgbClr val="2D3748"/>
          </a:solidFill>
          <a:ln/>
        </p:spPr>
      </p:sp>
      <p:sp>
        <p:nvSpPr>
          <p:cNvPr id="24" name="Text 22"/>
          <p:cNvSpPr/>
          <p:nvPr/>
        </p:nvSpPr>
        <p:spPr>
          <a:xfrm>
            <a:off x="4983919" y="3599594"/>
            <a:ext cx="2833687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spcAft>
                <a:spcPts val="203"/>
              </a:spcAft>
              <a:buNone/>
            </a:pPr>
            <a:r>
              <a:rPr lang="en-US" sz="7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DELIVERABLES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4983919" y="3762673"/>
            <a:ext cx="2833687" cy="4429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42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Churn model + segmentation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1097719" y="4434334"/>
            <a:ext cx="6948488" cy="280987"/>
          </a:xfrm>
          <a:prstGeom prst="rect">
            <a:avLst/>
          </a:prstGeom>
          <a:ln/>
        </p:spPr>
      </p:sp>
      <p:sp>
        <p:nvSpPr>
          <p:cNvPr id="27" name="Text 25"/>
          <p:cNvSpPr/>
          <p:nvPr/>
        </p:nvSpPr>
        <p:spPr>
          <a:xfrm>
            <a:off x="1097235" y="4550048"/>
            <a:ext cx="1585913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96"/>
              </a:lnSpc>
              <a:buNone/>
            </a:pPr>
            <a:r>
              <a:rPr lang="en-US" sz="800" dirty="0">
                <a:solidFill>
                  <a:srgbClr val="71809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Bank Customer Churn Analysis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907573" y="4550048"/>
            <a:ext cx="138113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96"/>
              </a:lnSpc>
              <a:buNone/>
            </a:pPr>
            <a:r>
              <a:rPr lang="en-US" sz="800" b="1" dirty="0">
                <a:solidFill>
                  <a:srgbClr val="2D374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02</a:t>
            </a:r>
            <a:endParaRPr lang="en-US" sz="800" dirty="0"/>
          </a:p>
        </p:txBody>
      </p:sp>
      <p:pic>
        <p:nvPicPr>
          <p:cNvPr id="29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7719" y="4434334"/>
            <a:ext cx="6948488" cy="28098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0" y="-771525"/>
            <a:ext cx="4114800" cy="4114800"/>
          </a:xfrm>
          <a:prstGeom prst="ellipse">
            <a:avLst/>
          </a:prstGeom>
          <a:solidFill>
            <a:srgbClr val="F4E8C1"/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2457450"/>
            <a:ext cx="3200400" cy="3200400"/>
          </a:xfrm>
          <a:prstGeom prst="ellipse">
            <a:avLst/>
          </a:prstGeom>
          <a:solidFill>
            <a:srgbClr val="AED9E0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0" y="617190"/>
            <a:ext cx="914400" cy="914400"/>
          </a:xfrm>
          <a:prstGeom prst="ellipse">
            <a:avLst/>
          </a:prstGeom>
          <a:solidFill>
            <a:srgbClr val="C8B6FF"/>
          </a:solidFill>
          <a:ln/>
        </p:spPr>
      </p:sp>
      <p:sp>
        <p:nvSpPr>
          <p:cNvPr id="6" name="Shape 4"/>
          <p:cNvSpPr/>
          <p:nvPr/>
        </p:nvSpPr>
        <p:spPr>
          <a:xfrm rot="-1200000">
            <a:off x="7498631" y="2286000"/>
            <a:ext cx="547687" cy="1828800"/>
          </a:xfrm>
          <a:prstGeom prst="roundRect">
            <a:avLst>
              <a:gd name="adj" fmla="val 83478"/>
            </a:avLst>
          </a:prstGeom>
          <a:solidFill>
            <a:srgbClr val="FFBCA6"/>
          </a:solidFill>
          <a:ln/>
        </p:spPr>
      </p:sp>
      <p:sp>
        <p:nvSpPr>
          <p:cNvPr id="7" name="Shape 5"/>
          <p:cNvSpPr/>
          <p:nvPr/>
        </p:nvSpPr>
        <p:spPr>
          <a:xfrm>
            <a:off x="731007" y="411882"/>
            <a:ext cx="7681912" cy="4319588"/>
          </a:xfrm>
          <a:prstGeom prst="roundRect">
            <a:avLst>
              <a:gd name="adj" fmla="val 896"/>
            </a:avLst>
          </a:prstGeom>
          <a:solidFill>
            <a:srgbClr val="FFFFFF">
              <a:alpha val="4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096268" y="616148"/>
            <a:ext cx="276225" cy="276225"/>
          </a:xfrm>
          <a:prstGeom prst="roundRect">
            <a:avLst>
              <a:gd name="adj" fmla="val 21917"/>
            </a:avLst>
          </a:prstGeom>
          <a:solidFill>
            <a:srgbClr val="2D3748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2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462646" y="651867"/>
            <a:ext cx="776287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000" b="1" dirty="0">
                <a:solidFill>
                  <a:srgbClr val="2D374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ds.portfolio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212174" y="644686"/>
            <a:ext cx="833437" cy="219075"/>
          </a:xfrm>
          <a:prstGeom prst="roundRect">
            <a:avLst>
              <a:gd name="adj" fmla="val 52174"/>
            </a:avLst>
          </a:prstGeom>
          <a:solidFill>
            <a:srgbClr val="C8B6FF"/>
          </a:solidFill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00" b="1" dirty="0">
                <a:solidFill>
                  <a:srgbClr val="2D374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   The Problem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096752" y="1110221"/>
            <a:ext cx="2185988" cy="190500"/>
          </a:xfrm>
          <a:prstGeom prst="roundRect">
            <a:avLst>
              <a:gd name="adj" fmla="val 28800"/>
            </a:avLst>
          </a:prstGeom>
          <a:solidFill>
            <a:srgbClr val="E2E8F0"/>
          </a:solidFill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80"/>
              </a:lnSpc>
              <a:spcAft>
                <a:spcPts val="810"/>
              </a:spcAft>
              <a:buNone/>
            </a:pPr>
            <a:r>
              <a:rPr lang="en-US" sz="700" b="1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TWO QUESTIONS, ONE PRODUCT TEAM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1097235" y="1402705"/>
            <a:ext cx="5029200" cy="7239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1"/>
              </a:lnSpc>
              <a:spcAft>
                <a:spcPts val="2025"/>
              </a:spcAft>
              <a:buNone/>
            </a:pPr>
            <a:r>
              <a:rPr lang="en-US" sz="2500" b="1" dirty="0">
                <a:solidFill>
                  <a:srgbClr val="1A20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Predict who will leave — and understand who they are.</a:t>
            </a:r>
            <a:endParaRPr lang="en-US" sz="2500" dirty="0"/>
          </a:p>
        </p:txBody>
      </p:sp>
      <p:sp>
        <p:nvSpPr>
          <p:cNvPr id="13" name="Shape 11"/>
          <p:cNvSpPr/>
          <p:nvPr/>
        </p:nvSpPr>
        <p:spPr>
          <a:xfrm>
            <a:off x="1096789" y="2384189"/>
            <a:ext cx="3338513" cy="1743075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blurRad="182880" dist="9144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325352" y="2612045"/>
            <a:ext cx="366712" cy="366712"/>
          </a:xfrm>
          <a:prstGeom prst="roundRect">
            <a:avLst>
              <a:gd name="adj" fmla="val 15544"/>
            </a:avLst>
          </a:prstGeom>
          <a:solidFill>
            <a:srgbClr val="AED9E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592"/>
              </a:lnSpc>
              <a:spcAft>
                <a:spcPts val="810"/>
              </a:spcAft>
              <a:buNone/>
            </a:pPr>
            <a:r>
              <a:rPr lang="en-US" sz="1700" b="1" dirty="0">
                <a:solidFill>
                  <a:srgbClr val="2D374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325389" y="3080742"/>
            <a:ext cx="2881313" cy="2476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44"/>
              </a:lnSpc>
              <a:spcAft>
                <a:spcPts val="607"/>
              </a:spcAft>
              <a:buNone/>
            </a:pPr>
            <a:r>
              <a:rPr lang="en-US" sz="1200" b="1" dirty="0">
                <a:solidFill>
                  <a:srgbClr val="1A20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Flag at-risk customers early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325389" y="3404369"/>
            <a:ext cx="2881313" cy="495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96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Identify likely churners </a:t>
            </a:r>
            <a:r>
              <a:rPr lang="en-US" sz="800" i="1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before</a:t>
            </a:r>
            <a:r>
              <a:rPr lang="en-US" sz="8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they leave so the retention team has time to intervene with targeted offers.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708699" y="2384189"/>
            <a:ext cx="3338513" cy="1743075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blurRad="182880" dist="9144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37261" y="2612045"/>
            <a:ext cx="366712" cy="366712"/>
          </a:xfrm>
          <a:prstGeom prst="roundRect">
            <a:avLst>
              <a:gd name="adj" fmla="val 15544"/>
            </a:avLst>
          </a:prstGeom>
          <a:solidFill>
            <a:srgbClr val="FFBCA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592"/>
              </a:lnSpc>
              <a:spcAft>
                <a:spcPts val="810"/>
              </a:spcAft>
              <a:buNone/>
            </a:pPr>
            <a:r>
              <a:rPr lang="en-US" sz="1700" b="1" dirty="0">
                <a:solidFill>
                  <a:srgbClr val="2D374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937299" y="3080742"/>
            <a:ext cx="2881313" cy="2476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44"/>
              </a:lnSpc>
              <a:spcAft>
                <a:spcPts val="607"/>
              </a:spcAft>
              <a:buNone/>
            </a:pPr>
            <a:r>
              <a:rPr lang="en-US" sz="1200" b="1" dirty="0">
                <a:solidFill>
                  <a:srgbClr val="1A20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Segment customers behaviourally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37299" y="3404369"/>
            <a:ext cx="2881313" cy="495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96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Surface distinct customer types so product, marketing, and CRM can tailor outreach instead of running generic campaigns.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097719" y="4244876"/>
            <a:ext cx="6948488" cy="280987"/>
          </a:xfrm>
          <a:prstGeom prst="rect">
            <a:avLst/>
          </a:prstGeom>
          <a:ln/>
        </p:spPr>
      </p:sp>
      <p:sp>
        <p:nvSpPr>
          <p:cNvPr id="22" name="Text 20"/>
          <p:cNvSpPr/>
          <p:nvPr/>
        </p:nvSpPr>
        <p:spPr>
          <a:xfrm>
            <a:off x="1097235" y="4360590"/>
            <a:ext cx="1585913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96"/>
              </a:lnSpc>
              <a:buNone/>
            </a:pPr>
            <a:r>
              <a:rPr lang="en-US" sz="800" dirty="0">
                <a:solidFill>
                  <a:srgbClr val="71809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Bank Customer Churn Analysis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903555" y="4360590"/>
            <a:ext cx="142875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96"/>
              </a:lnSpc>
              <a:buNone/>
            </a:pPr>
            <a:r>
              <a:rPr lang="en-US" sz="800" b="1" dirty="0">
                <a:solidFill>
                  <a:srgbClr val="2D374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03</a:t>
            </a:r>
            <a:endParaRPr lang="en-US" sz="800" dirty="0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7719" y="4244876"/>
            <a:ext cx="6948488" cy="28098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0" y="-771525"/>
            <a:ext cx="4114800" cy="4114800"/>
          </a:xfrm>
          <a:prstGeom prst="ellipse">
            <a:avLst/>
          </a:prstGeom>
          <a:solidFill>
            <a:srgbClr val="F4E8C1"/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2457450"/>
            <a:ext cx="3200400" cy="3200400"/>
          </a:xfrm>
          <a:prstGeom prst="ellipse">
            <a:avLst/>
          </a:prstGeom>
          <a:solidFill>
            <a:srgbClr val="AED9E0"/>
          </a:solidFill>
          <a:ln/>
        </p:spPr>
      </p:sp>
      <p:sp>
        <p:nvSpPr>
          <p:cNvPr id="5" name="Shape 3"/>
          <p:cNvSpPr/>
          <p:nvPr/>
        </p:nvSpPr>
        <p:spPr>
          <a:xfrm rot="900000">
            <a:off x="5028233" y="1028216"/>
            <a:ext cx="733425" cy="2195513"/>
          </a:xfrm>
          <a:prstGeom prst="roundRect">
            <a:avLst>
              <a:gd name="adj" fmla="val 62176"/>
            </a:avLst>
          </a:prstGeom>
          <a:solidFill>
            <a:srgbClr val="FFBCA6"/>
          </a:solidFill>
          <a:ln/>
        </p:spPr>
      </p:sp>
      <p:sp>
        <p:nvSpPr>
          <p:cNvPr id="6" name="Shape 4"/>
          <p:cNvSpPr/>
          <p:nvPr/>
        </p:nvSpPr>
        <p:spPr>
          <a:xfrm>
            <a:off x="731007" y="411882"/>
            <a:ext cx="7681912" cy="4319588"/>
          </a:xfrm>
          <a:prstGeom prst="roundRect">
            <a:avLst>
              <a:gd name="adj" fmla="val 896"/>
            </a:avLst>
          </a:prstGeom>
          <a:solidFill>
            <a:srgbClr val="FFFFFF">
              <a:alpha val="4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96268" y="616148"/>
            <a:ext cx="276225" cy="276225"/>
          </a:xfrm>
          <a:prstGeom prst="roundRect">
            <a:avLst>
              <a:gd name="adj" fmla="val 21917"/>
            </a:avLst>
          </a:prstGeom>
          <a:solidFill>
            <a:srgbClr val="2D3748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2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462646" y="651867"/>
            <a:ext cx="776287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000" b="1" dirty="0">
                <a:solidFill>
                  <a:srgbClr val="2D374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ds.portfolio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183748" y="644686"/>
            <a:ext cx="862012" cy="219075"/>
          </a:xfrm>
          <a:prstGeom prst="roundRect">
            <a:avLst>
              <a:gd name="adj" fmla="val 52174"/>
            </a:avLst>
          </a:prstGeom>
          <a:solidFill>
            <a:srgbClr val="AED9E0"/>
          </a:solidFill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00" b="1" dirty="0">
                <a:solidFill>
                  <a:srgbClr val="2D374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   Methodology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097235" y="1219795"/>
            <a:ext cx="5486400" cy="6858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93"/>
              </a:lnSpc>
              <a:spcAft>
                <a:spcPts val="1620"/>
              </a:spcAft>
              <a:buNone/>
            </a:pPr>
            <a:r>
              <a:rPr lang="en-US" sz="2400" b="1" dirty="0">
                <a:solidFill>
                  <a:srgbClr val="1A20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From messy Excel to deployable model.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1096752" y="2110904"/>
            <a:ext cx="1281112" cy="1371600"/>
          </a:xfrm>
          <a:prstGeom prst="roundRect">
            <a:avLst>
              <a:gd name="adj" fmla="val 6113"/>
            </a:avLst>
          </a:prstGeom>
          <a:solidFill>
            <a:srgbClr val="FFFFFF"/>
          </a:solidFill>
          <a:ln/>
          <a:effectLst>
            <a:outerShdw blurRad="137160" dist="4572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261058" y="2274652"/>
            <a:ext cx="952500" cy="123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2"/>
              </a:lnSpc>
              <a:spcAft>
                <a:spcPts val="203"/>
              </a:spcAft>
              <a:buNone/>
            </a:pPr>
            <a:r>
              <a:rPr lang="en-US" sz="600" dirty="0">
                <a:solidFill>
                  <a:srgbClr val="71809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STEP 01</a:t>
            </a:r>
            <a:endParaRPr lang="en-US" sz="600" dirty="0"/>
          </a:p>
        </p:txBody>
      </p:sp>
      <p:sp>
        <p:nvSpPr>
          <p:cNvPr id="13" name="Shape 11"/>
          <p:cNvSpPr/>
          <p:nvPr/>
        </p:nvSpPr>
        <p:spPr>
          <a:xfrm>
            <a:off x="1261765" y="2423182"/>
            <a:ext cx="228600" cy="38100"/>
          </a:xfrm>
          <a:prstGeom prst="roundRect">
            <a:avLst>
              <a:gd name="adj" fmla="val 288000"/>
            </a:avLst>
          </a:prstGeom>
          <a:solidFill>
            <a:srgbClr val="FFBCA6"/>
          </a:solidFill>
          <a:ln/>
        </p:spPr>
      </p:sp>
      <p:sp>
        <p:nvSpPr>
          <p:cNvPr id="14" name="Text 12"/>
          <p:cNvSpPr/>
          <p:nvPr/>
        </p:nvSpPr>
        <p:spPr>
          <a:xfrm>
            <a:off x="1261058" y="2538338"/>
            <a:ext cx="952500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2"/>
              </a:lnSpc>
              <a:spcAft>
                <a:spcPts val="405"/>
              </a:spcAft>
              <a:buNone/>
            </a:pPr>
            <a:r>
              <a:rPr lang="en-US" sz="1000" b="1" dirty="0">
                <a:solidFill>
                  <a:srgbClr val="1A20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Cleaning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261058" y="2780705"/>
            <a:ext cx="952500" cy="538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8"/>
              </a:lnSpc>
              <a:buNone/>
            </a:pPr>
            <a:r>
              <a:rPr lang="en-US" sz="7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Deduplicate, strip currency symbols, impute medians, normalise geography.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2514042" y="2110904"/>
            <a:ext cx="1281112" cy="1371600"/>
          </a:xfrm>
          <a:prstGeom prst="roundRect">
            <a:avLst>
              <a:gd name="adj" fmla="val 6113"/>
            </a:avLst>
          </a:prstGeom>
          <a:solidFill>
            <a:srgbClr val="FFFFFF"/>
          </a:solidFill>
          <a:ln/>
          <a:effectLst>
            <a:outerShdw blurRad="137160" dist="4572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678348" y="2274652"/>
            <a:ext cx="952500" cy="123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2"/>
              </a:lnSpc>
              <a:spcAft>
                <a:spcPts val="203"/>
              </a:spcAft>
              <a:buNone/>
            </a:pPr>
            <a:r>
              <a:rPr lang="en-US" sz="600" dirty="0">
                <a:solidFill>
                  <a:srgbClr val="71809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STEP 02</a:t>
            </a:r>
            <a:endParaRPr lang="en-US" sz="600" dirty="0"/>
          </a:p>
        </p:txBody>
      </p:sp>
      <p:sp>
        <p:nvSpPr>
          <p:cNvPr id="18" name="Shape 16"/>
          <p:cNvSpPr/>
          <p:nvPr/>
        </p:nvSpPr>
        <p:spPr>
          <a:xfrm>
            <a:off x="2679055" y="2423182"/>
            <a:ext cx="228600" cy="38100"/>
          </a:xfrm>
          <a:prstGeom prst="roundRect">
            <a:avLst>
              <a:gd name="adj" fmla="val 288000"/>
            </a:avLst>
          </a:prstGeom>
          <a:solidFill>
            <a:srgbClr val="AED9E0"/>
          </a:solidFill>
          <a:ln/>
        </p:spPr>
      </p:sp>
      <p:sp>
        <p:nvSpPr>
          <p:cNvPr id="19" name="Text 17"/>
          <p:cNvSpPr/>
          <p:nvPr/>
        </p:nvSpPr>
        <p:spPr>
          <a:xfrm>
            <a:off x="2678348" y="2538338"/>
            <a:ext cx="952500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2"/>
              </a:lnSpc>
              <a:spcAft>
                <a:spcPts val="405"/>
              </a:spcAft>
              <a:buNone/>
            </a:pPr>
            <a:r>
              <a:rPr lang="en-US" sz="1000" b="1" dirty="0">
                <a:solidFill>
                  <a:srgbClr val="1A20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EDA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678348" y="2780184"/>
            <a:ext cx="952500" cy="4048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8"/>
              </a:lnSpc>
              <a:buNone/>
            </a:pPr>
            <a:r>
              <a:rPr lang="en-US" sz="7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Univariate, bivariate, correlation heatmap, distribution plots.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3931332" y="2110904"/>
            <a:ext cx="1281112" cy="1371600"/>
          </a:xfrm>
          <a:prstGeom prst="roundRect">
            <a:avLst>
              <a:gd name="adj" fmla="val 6113"/>
            </a:avLst>
          </a:prstGeom>
          <a:solidFill>
            <a:srgbClr val="FFFFFF"/>
          </a:solidFill>
          <a:ln/>
          <a:effectLst>
            <a:outerShdw blurRad="137160" dist="4572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095638" y="2274652"/>
            <a:ext cx="952500" cy="123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2"/>
              </a:lnSpc>
              <a:spcAft>
                <a:spcPts val="203"/>
              </a:spcAft>
              <a:buNone/>
            </a:pPr>
            <a:r>
              <a:rPr lang="en-US" sz="600" dirty="0">
                <a:solidFill>
                  <a:srgbClr val="71809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STEP 03</a:t>
            </a:r>
            <a:endParaRPr lang="en-US" sz="600" dirty="0"/>
          </a:p>
        </p:txBody>
      </p:sp>
      <p:sp>
        <p:nvSpPr>
          <p:cNvPr id="23" name="Shape 21"/>
          <p:cNvSpPr/>
          <p:nvPr/>
        </p:nvSpPr>
        <p:spPr>
          <a:xfrm>
            <a:off x="4096345" y="2423182"/>
            <a:ext cx="228600" cy="38100"/>
          </a:xfrm>
          <a:prstGeom prst="roundRect">
            <a:avLst>
              <a:gd name="adj" fmla="val 288000"/>
            </a:avLst>
          </a:prstGeom>
          <a:solidFill>
            <a:srgbClr val="C8B6FF"/>
          </a:solidFill>
          <a:ln/>
        </p:spPr>
      </p:sp>
      <p:sp>
        <p:nvSpPr>
          <p:cNvPr id="24" name="Text 22"/>
          <p:cNvSpPr/>
          <p:nvPr/>
        </p:nvSpPr>
        <p:spPr>
          <a:xfrm>
            <a:off x="4095638" y="2538338"/>
            <a:ext cx="952500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2"/>
              </a:lnSpc>
              <a:spcAft>
                <a:spcPts val="405"/>
              </a:spcAft>
              <a:buNone/>
            </a:pPr>
            <a:r>
              <a:rPr lang="en-US" sz="1000" b="1" dirty="0">
                <a:solidFill>
                  <a:srgbClr val="1A20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Feature Eng.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095638" y="2780705"/>
            <a:ext cx="952500" cy="538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8"/>
              </a:lnSpc>
              <a:buNone/>
            </a:pPr>
            <a:r>
              <a:rPr lang="en-US" sz="7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Balance-to-income, income-per-product, one-hot encoding.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5348622" y="2110904"/>
            <a:ext cx="1281112" cy="1371600"/>
          </a:xfrm>
          <a:prstGeom prst="roundRect">
            <a:avLst>
              <a:gd name="adj" fmla="val 6113"/>
            </a:avLst>
          </a:prstGeom>
          <a:solidFill>
            <a:srgbClr val="FFFFFF"/>
          </a:solidFill>
          <a:ln/>
          <a:effectLst>
            <a:outerShdw blurRad="137160" dist="4572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512929" y="2274652"/>
            <a:ext cx="952500" cy="123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2"/>
              </a:lnSpc>
              <a:spcAft>
                <a:spcPts val="203"/>
              </a:spcAft>
              <a:buNone/>
            </a:pPr>
            <a:r>
              <a:rPr lang="en-US" sz="600" dirty="0">
                <a:solidFill>
                  <a:srgbClr val="71809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STEP 04</a:t>
            </a:r>
            <a:endParaRPr lang="en-US" sz="600" dirty="0"/>
          </a:p>
        </p:txBody>
      </p:sp>
      <p:sp>
        <p:nvSpPr>
          <p:cNvPr id="28" name="Shape 26"/>
          <p:cNvSpPr/>
          <p:nvPr/>
        </p:nvSpPr>
        <p:spPr>
          <a:xfrm>
            <a:off x="5513636" y="2423182"/>
            <a:ext cx="228600" cy="38100"/>
          </a:xfrm>
          <a:prstGeom prst="roundRect">
            <a:avLst>
              <a:gd name="adj" fmla="val 288000"/>
            </a:avLst>
          </a:prstGeom>
          <a:solidFill>
            <a:srgbClr val="F4E8C1"/>
          </a:solidFill>
          <a:ln/>
        </p:spPr>
      </p:sp>
      <p:sp>
        <p:nvSpPr>
          <p:cNvPr id="29" name="Text 27"/>
          <p:cNvSpPr/>
          <p:nvPr/>
        </p:nvSpPr>
        <p:spPr>
          <a:xfrm>
            <a:off x="5512929" y="2538338"/>
            <a:ext cx="952500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2"/>
              </a:lnSpc>
              <a:spcAft>
                <a:spcPts val="405"/>
              </a:spcAft>
              <a:buNone/>
            </a:pPr>
            <a:r>
              <a:rPr lang="en-US" sz="1000" b="1" dirty="0">
                <a:solidFill>
                  <a:srgbClr val="1A20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Modelling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512929" y="2780705"/>
            <a:ext cx="952500" cy="538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8"/>
              </a:lnSpc>
              <a:buNone/>
            </a:pPr>
            <a:r>
              <a:rPr lang="en-US" sz="7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Logistic baseline, tuned Random Forest, threshold optimisation.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6765913" y="2110904"/>
            <a:ext cx="1281112" cy="1371600"/>
          </a:xfrm>
          <a:prstGeom prst="roundRect">
            <a:avLst>
              <a:gd name="adj" fmla="val 6113"/>
            </a:avLst>
          </a:prstGeom>
          <a:solidFill>
            <a:srgbClr val="2D3748"/>
          </a:solidFill>
          <a:ln/>
        </p:spPr>
      </p:sp>
      <p:sp>
        <p:nvSpPr>
          <p:cNvPr id="32" name="Text 30"/>
          <p:cNvSpPr/>
          <p:nvPr/>
        </p:nvSpPr>
        <p:spPr>
          <a:xfrm>
            <a:off x="6930219" y="2274652"/>
            <a:ext cx="952500" cy="123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2"/>
              </a:lnSpc>
              <a:spcAft>
                <a:spcPts val="203"/>
              </a:spcAft>
              <a:buNone/>
            </a:pPr>
            <a:r>
              <a:rPr lang="en-US" sz="6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STEP 05</a:t>
            </a:r>
            <a:endParaRPr lang="en-US" sz="600" dirty="0"/>
          </a:p>
        </p:txBody>
      </p:sp>
      <p:sp>
        <p:nvSpPr>
          <p:cNvPr id="33" name="Shape 31"/>
          <p:cNvSpPr/>
          <p:nvPr/>
        </p:nvSpPr>
        <p:spPr>
          <a:xfrm>
            <a:off x="6930926" y="2423182"/>
            <a:ext cx="228600" cy="38100"/>
          </a:xfrm>
          <a:prstGeom prst="roundRect">
            <a:avLst>
              <a:gd name="adj" fmla="val 288000"/>
            </a:avLst>
          </a:prstGeom>
          <a:solidFill>
            <a:srgbClr val="FFBCA6"/>
          </a:solidFill>
          <a:ln/>
        </p:spPr>
      </p:sp>
      <p:sp>
        <p:nvSpPr>
          <p:cNvPr id="34" name="Text 32"/>
          <p:cNvSpPr/>
          <p:nvPr/>
        </p:nvSpPr>
        <p:spPr>
          <a:xfrm>
            <a:off x="6930219" y="2538338"/>
            <a:ext cx="952500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2"/>
              </a:lnSpc>
              <a:spcAft>
                <a:spcPts val="405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Segmentation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930219" y="2780184"/>
            <a:ext cx="952500" cy="4048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8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K-Means clustering with elbow + silhouette validation.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1097235" y="3689077"/>
            <a:ext cx="6400800" cy="3286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96"/>
              </a:lnSpc>
              <a:spcBef>
                <a:spcPts val="1620"/>
              </a:spcBef>
              <a:buNone/>
            </a:pPr>
            <a:r>
              <a:rPr lang="en-US" sz="8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Each step is reproducible end-to-end in a single Pandas + Scikit-learn pipeline — no manual cleanup required to re-score the customer base next month.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1097719" y="4244876"/>
            <a:ext cx="6948488" cy="280987"/>
          </a:xfrm>
          <a:prstGeom prst="rect">
            <a:avLst/>
          </a:prstGeom>
          <a:ln/>
        </p:spPr>
      </p:sp>
      <p:sp>
        <p:nvSpPr>
          <p:cNvPr id="38" name="Text 36"/>
          <p:cNvSpPr/>
          <p:nvPr/>
        </p:nvSpPr>
        <p:spPr>
          <a:xfrm>
            <a:off x="1097235" y="4360590"/>
            <a:ext cx="1585913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96"/>
              </a:lnSpc>
              <a:buNone/>
            </a:pPr>
            <a:r>
              <a:rPr lang="en-US" sz="800" dirty="0">
                <a:solidFill>
                  <a:srgbClr val="71809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Bank Customer Churn Analysis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7898606" y="4360590"/>
            <a:ext cx="147637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96"/>
              </a:lnSpc>
              <a:buNone/>
            </a:pPr>
            <a:r>
              <a:rPr lang="en-US" sz="800" b="1" dirty="0">
                <a:solidFill>
                  <a:srgbClr val="2D374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04</a:t>
            </a:r>
            <a:endParaRPr lang="en-US" sz="800" dirty="0"/>
          </a:p>
        </p:txBody>
      </p:sp>
      <p:pic>
        <p:nvPicPr>
          <p:cNvPr id="40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7719" y="4244876"/>
            <a:ext cx="6948488" cy="28098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0" y="-771525"/>
            <a:ext cx="4114800" cy="4114800"/>
          </a:xfrm>
          <a:prstGeom prst="ellipse">
            <a:avLst/>
          </a:prstGeom>
          <a:solidFill>
            <a:srgbClr val="F4E8C1"/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2457450"/>
            <a:ext cx="3200400" cy="3200400"/>
          </a:xfrm>
          <a:prstGeom prst="ellipse">
            <a:avLst/>
          </a:prstGeom>
          <a:solidFill>
            <a:srgbClr val="AED9E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0" y="1543050"/>
            <a:ext cx="914400" cy="914400"/>
          </a:xfrm>
          <a:prstGeom prst="ellipse">
            <a:avLst/>
          </a:prstGeom>
          <a:solidFill>
            <a:srgbClr val="C8B6FF"/>
          </a:solidFill>
          <a:ln/>
        </p:spPr>
      </p:sp>
      <p:sp>
        <p:nvSpPr>
          <p:cNvPr id="6" name="Shape 4"/>
          <p:cNvSpPr/>
          <p:nvPr/>
        </p:nvSpPr>
        <p:spPr>
          <a:xfrm>
            <a:off x="731007" y="411882"/>
            <a:ext cx="7681912" cy="4319588"/>
          </a:xfrm>
          <a:prstGeom prst="roundRect">
            <a:avLst>
              <a:gd name="adj" fmla="val 896"/>
            </a:avLst>
          </a:prstGeom>
          <a:solidFill>
            <a:srgbClr val="FFFFFF">
              <a:alpha val="4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96268" y="616148"/>
            <a:ext cx="276225" cy="276225"/>
          </a:xfrm>
          <a:prstGeom prst="roundRect">
            <a:avLst>
              <a:gd name="adj" fmla="val 21917"/>
            </a:avLst>
          </a:prstGeom>
          <a:solidFill>
            <a:srgbClr val="2D3748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2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462646" y="651867"/>
            <a:ext cx="776287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000" b="1" dirty="0">
                <a:solidFill>
                  <a:srgbClr val="2D374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ds.portfolio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213848" y="644686"/>
            <a:ext cx="833437" cy="219075"/>
          </a:xfrm>
          <a:prstGeom prst="roundRect">
            <a:avLst>
              <a:gd name="adj" fmla="val 52174"/>
            </a:avLst>
          </a:prstGeom>
          <a:solidFill>
            <a:srgbClr val="FFBCA6"/>
          </a:solidFill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00" b="1" dirty="0">
                <a:solidFill>
                  <a:srgbClr val="2D374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 Quality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096268" y="1383581"/>
            <a:ext cx="3405187" cy="6524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70"/>
              </a:lnSpc>
              <a:spcAft>
                <a:spcPts val="810"/>
              </a:spcAft>
              <a:buNone/>
            </a:pPr>
            <a:r>
              <a:rPr lang="en-US" sz="2400" b="1" dirty="0">
                <a:solidFill>
                  <a:srgbClr val="1A20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Cleaning a messy two-sheet workbook.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096268" y="2139665"/>
            <a:ext cx="3405187" cy="533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4"/>
              </a:lnSpc>
              <a:spcAft>
                <a:spcPts val="1215"/>
              </a:spcAft>
              <a:buNone/>
            </a:pPr>
            <a:r>
              <a:rPr lang="en-US" sz="9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raw file landed with duplicates, currency symbols inside numeric fields, sentinel values, and three different ways of spelling "France". One reproducible pipeline resolved it all.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096268" y="2826767"/>
            <a:ext cx="3405187" cy="1081087"/>
          </a:xfrm>
          <a:prstGeom prst="roundRect">
            <a:avLst>
              <a:gd name="adj" fmla="val 10731"/>
            </a:avLst>
          </a:prstGeom>
          <a:solidFill>
            <a:srgbClr val="2D3748"/>
          </a:solidFill>
          <a:ln/>
        </p:spPr>
      </p:sp>
      <p:sp>
        <p:nvSpPr>
          <p:cNvPr id="13" name="Text 11"/>
          <p:cNvSpPr/>
          <p:nvPr/>
        </p:nvSpPr>
        <p:spPr>
          <a:xfrm>
            <a:off x="1279810" y="3127065"/>
            <a:ext cx="800100" cy="123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2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BEFORE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1279810" y="3250406"/>
            <a:ext cx="800100" cy="3571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8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10,004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354349" y="3229161"/>
            <a:ext cx="152400" cy="2762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782491" y="3127065"/>
            <a:ext cx="809625" cy="123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2"/>
              </a:lnSpc>
              <a:buNone/>
            </a:pPr>
            <a:r>
              <a:rPr lang="en-US" sz="600" dirty="0">
                <a:solidFill>
                  <a:srgbClr val="AED9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AFTER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2782491" y="3250406"/>
            <a:ext cx="809625" cy="3571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8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10,000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866331" y="3010123"/>
            <a:ext cx="452437" cy="7143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36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 duplicates removed · clean unique customers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4865787" y="1044885"/>
            <a:ext cx="3181350" cy="3200400"/>
          </a:xfrm>
          <a:prstGeom prst="roundRect">
            <a:avLst>
              <a:gd name="adj" fmla="val 1239"/>
            </a:avLst>
          </a:prstGeom>
          <a:solidFill>
            <a:srgbClr val="FFFFFF"/>
          </a:solidFill>
          <a:ln/>
          <a:effectLst>
            <a:outerShdw blurRad="182880" dist="9144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049143" y="1227758"/>
            <a:ext cx="2814638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8"/>
              </a:lnSpc>
              <a:spcAft>
                <a:spcPts val="203"/>
              </a:spcAft>
              <a:buNone/>
            </a:pPr>
            <a:r>
              <a:rPr lang="en-US" sz="700" b="1" dirty="0">
                <a:solidFill>
                  <a:srgbClr val="1A20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ISSUE → FIX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5049143" y="1467296"/>
            <a:ext cx="2814638" cy="233362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88"/>
              </a:lnSpc>
              <a:buNone/>
            </a:pPr>
            <a:r>
              <a:rPr lang="en-US" sz="7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Duplicate rows</a:t>
            </a:r>
            <a:r>
              <a:rPr lang="en-US" sz="700" b="1" dirty="0">
                <a:solidFill>
                  <a:srgbClr val="1A202C"/>
                </a:solidFill>
                <a:highlight>
                  <a:srgbClr val="F4E8C1"/>
                </a:highlight>
                <a:latin typeface="DM Sans" pitchFamily="34" charset="0"/>
                <a:ea typeface="DM Sans" pitchFamily="34" charset="-122"/>
                <a:cs typeface="DM Sans" pitchFamily="34" charset="-120"/>
              </a:rPr>
              <a:t>drop_duplicates()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5049143" y="1763390"/>
            <a:ext cx="2814638" cy="233362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88"/>
              </a:lnSpc>
              <a:buNone/>
            </a:pPr>
            <a:r>
              <a:rPr lang="en-US" sz="7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€ symbol in Balance / Salary</a:t>
            </a:r>
            <a:r>
              <a:rPr lang="en-US" sz="700" b="1" dirty="0">
                <a:solidFill>
                  <a:srgbClr val="1A202C"/>
                </a:solidFill>
                <a:highlight>
                  <a:srgbClr val="AED9E0"/>
                </a:highlight>
                <a:latin typeface="DM Sans" pitchFamily="34" charset="0"/>
                <a:ea typeface="DM Sans" pitchFamily="34" charset="-122"/>
                <a:cs typeface="DM Sans" pitchFamily="34" charset="-120"/>
              </a:rPr>
              <a:t>strip + cast float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5049143" y="2059484"/>
            <a:ext cx="2814638" cy="233362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88"/>
              </a:lnSpc>
              <a:buNone/>
            </a:pPr>
            <a:r>
              <a:rPr lang="en-US" sz="7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Missing Age (3 rows)</a:t>
            </a:r>
            <a:r>
              <a:rPr lang="en-US" sz="700" b="1" dirty="0">
                <a:solidFill>
                  <a:srgbClr val="1A202C"/>
                </a:solidFill>
                <a:highlight>
                  <a:srgbClr val="C8B6FF"/>
                </a:highlight>
                <a:latin typeface="DM Sans" pitchFamily="34" charset="0"/>
                <a:ea typeface="DM Sans" pitchFamily="34" charset="-122"/>
                <a:cs typeface="DM Sans" pitchFamily="34" charset="-120"/>
              </a:rPr>
              <a:t>median impute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5049143" y="2355577"/>
            <a:ext cx="2814638" cy="233362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88"/>
              </a:lnSpc>
              <a:buNone/>
            </a:pPr>
            <a:r>
              <a:rPr lang="en-US" sz="7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Sentinel −999,999 in Salary</a:t>
            </a:r>
            <a:r>
              <a:rPr lang="en-US" sz="700" b="1" dirty="0">
                <a:solidFill>
                  <a:srgbClr val="1A202C"/>
                </a:solidFill>
                <a:highlight>
                  <a:srgbClr val="FFBCA6"/>
                </a:highlight>
                <a:latin typeface="DM Sans" pitchFamily="34" charset="0"/>
                <a:ea typeface="DM Sans" pitchFamily="34" charset="-122"/>
                <a:cs typeface="DM Sans" pitchFamily="34" charset="-120"/>
              </a:rPr>
              <a:t>median replace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5049143" y="2652154"/>
            <a:ext cx="2814638" cy="176212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88"/>
              </a:lnSpc>
              <a:buNone/>
            </a:pPr>
            <a:r>
              <a:rPr lang="en-US" sz="7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"FRA" / "French" / "France"</a:t>
            </a:r>
            <a:r>
              <a:rPr lang="en-US" sz="700" b="1" dirty="0">
                <a:solidFill>
                  <a:srgbClr val="1A202C"/>
                </a:solidFill>
                <a:highlight>
                  <a:srgbClr val="F4E8C1"/>
                </a:highlight>
                <a:latin typeface="DM Sans" pitchFamily="34" charset="0"/>
                <a:ea typeface="DM Sans" pitchFamily="34" charset="-122"/>
                <a:cs typeface="DM Sans" pitchFamily="34" charset="-120"/>
              </a:rPr>
              <a:t>normalise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5049143" y="3737297"/>
            <a:ext cx="2814638" cy="3238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58"/>
              </a:lnSpc>
              <a:spcBef>
                <a:spcPts val="6659"/>
              </a:spcBef>
              <a:buNone/>
            </a:pPr>
            <a:r>
              <a:rPr lang="en-US" sz="600" i="1" dirty="0">
                <a:solidFill>
                  <a:srgbClr val="71809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⚠ Median impute on Age assumes Missing-At-Random. Affects 0.03% of rows — low bias risk.</a:t>
            </a:r>
            <a:endParaRPr lang="en-US" sz="600" dirty="0"/>
          </a:p>
        </p:txBody>
      </p:sp>
      <p:sp>
        <p:nvSpPr>
          <p:cNvPr id="27" name="Shape 25"/>
          <p:cNvSpPr/>
          <p:nvPr/>
        </p:nvSpPr>
        <p:spPr>
          <a:xfrm>
            <a:off x="1097719" y="4244876"/>
            <a:ext cx="6948488" cy="280987"/>
          </a:xfrm>
          <a:prstGeom prst="rect">
            <a:avLst/>
          </a:prstGeom>
          <a:ln/>
        </p:spPr>
      </p:sp>
      <p:sp>
        <p:nvSpPr>
          <p:cNvPr id="28" name="Text 26"/>
          <p:cNvSpPr/>
          <p:nvPr/>
        </p:nvSpPr>
        <p:spPr>
          <a:xfrm>
            <a:off x="1097235" y="4360590"/>
            <a:ext cx="1585913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96"/>
              </a:lnSpc>
              <a:buNone/>
            </a:pPr>
            <a:r>
              <a:rPr lang="en-US" sz="800" dirty="0">
                <a:solidFill>
                  <a:srgbClr val="71809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Bank Customer Churn Analysis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900169" y="4360590"/>
            <a:ext cx="147637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96"/>
              </a:lnSpc>
              <a:buNone/>
            </a:pPr>
            <a:r>
              <a:rPr lang="en-US" sz="800" b="1" dirty="0">
                <a:solidFill>
                  <a:srgbClr val="2D374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05</a:t>
            </a:r>
            <a:endParaRPr lang="en-US" sz="800" dirty="0"/>
          </a:p>
        </p:txBody>
      </p:sp>
      <p:pic>
        <p:nvPicPr>
          <p:cNvPr id="30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9143" y="1467296"/>
            <a:ext cx="2814638" cy="233362"/>
          </a:xfrm>
          <a:prstGeom prst="rect">
            <a:avLst/>
          </a:prstGeom>
        </p:spPr>
      </p:pic>
      <p:pic>
        <p:nvPicPr>
          <p:cNvPr id="3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9143" y="1763390"/>
            <a:ext cx="2814638" cy="233362"/>
          </a:xfrm>
          <a:prstGeom prst="rect">
            <a:avLst/>
          </a:prstGeom>
        </p:spPr>
      </p:pic>
      <p:pic>
        <p:nvPicPr>
          <p:cNvPr id="3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49143" y="2059484"/>
            <a:ext cx="2814638" cy="233362"/>
          </a:xfrm>
          <a:prstGeom prst="rect">
            <a:avLst/>
          </a:prstGeom>
        </p:spPr>
      </p:pic>
      <p:pic>
        <p:nvPicPr>
          <p:cNvPr id="3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49143" y="2355577"/>
            <a:ext cx="2814638" cy="233362"/>
          </a:xfrm>
          <a:prstGeom prst="rect">
            <a:avLst/>
          </a:prstGeom>
        </p:spPr>
      </p:pic>
      <p:pic>
        <p:nvPicPr>
          <p:cNvPr id="3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049143" y="3737297"/>
            <a:ext cx="2814638" cy="323850"/>
          </a:xfrm>
          <a:prstGeom prst="rect">
            <a:avLst/>
          </a:prstGeom>
        </p:spPr>
      </p:pic>
      <p:pic>
        <p:nvPicPr>
          <p:cNvPr id="35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97719" y="4244876"/>
            <a:ext cx="6948488" cy="28098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0" y="-771525"/>
            <a:ext cx="4114800" cy="4114800"/>
          </a:xfrm>
          <a:prstGeom prst="ellipse">
            <a:avLst/>
          </a:prstGeom>
          <a:solidFill>
            <a:srgbClr val="F4E8C1"/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2457450"/>
            <a:ext cx="3200400" cy="3200400"/>
          </a:xfrm>
          <a:prstGeom prst="ellipse">
            <a:avLst/>
          </a:prstGeom>
          <a:solidFill>
            <a:srgbClr val="AED9E0"/>
          </a:solidFill>
          <a:ln/>
        </p:spPr>
      </p:sp>
      <p:sp>
        <p:nvSpPr>
          <p:cNvPr id="5" name="Shape 3"/>
          <p:cNvSpPr/>
          <p:nvPr/>
        </p:nvSpPr>
        <p:spPr>
          <a:xfrm rot="900000">
            <a:off x="5028233" y="1028216"/>
            <a:ext cx="733425" cy="2195513"/>
          </a:xfrm>
          <a:prstGeom prst="roundRect">
            <a:avLst>
              <a:gd name="adj" fmla="val 62176"/>
            </a:avLst>
          </a:prstGeom>
          <a:solidFill>
            <a:srgbClr val="FFBCA6"/>
          </a:solidFill>
          <a:ln/>
        </p:spPr>
      </p:sp>
      <p:sp>
        <p:nvSpPr>
          <p:cNvPr id="6" name="Shape 4"/>
          <p:cNvSpPr/>
          <p:nvPr/>
        </p:nvSpPr>
        <p:spPr>
          <a:xfrm>
            <a:off x="731007" y="411882"/>
            <a:ext cx="7681912" cy="4319588"/>
          </a:xfrm>
          <a:prstGeom prst="roundRect">
            <a:avLst>
              <a:gd name="adj" fmla="val 896"/>
            </a:avLst>
          </a:prstGeom>
          <a:solidFill>
            <a:srgbClr val="FFFFFF">
              <a:alpha val="4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96268" y="616148"/>
            <a:ext cx="276225" cy="276225"/>
          </a:xfrm>
          <a:prstGeom prst="roundRect">
            <a:avLst>
              <a:gd name="adj" fmla="val 21917"/>
            </a:avLst>
          </a:prstGeom>
          <a:solidFill>
            <a:srgbClr val="2D3748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2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462646" y="651867"/>
            <a:ext cx="776287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000" b="1" dirty="0">
                <a:solidFill>
                  <a:srgbClr val="2D374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ds.portfolio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145685" y="644686"/>
            <a:ext cx="900113" cy="219075"/>
          </a:xfrm>
          <a:prstGeom prst="roundRect">
            <a:avLst>
              <a:gd name="adj" fmla="val 52174"/>
            </a:avLst>
          </a:prstGeom>
          <a:solidFill>
            <a:srgbClr val="AED9E0"/>
          </a:solidFill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00" b="1" dirty="0">
                <a:solidFill>
                  <a:srgbClr val="2D374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EDA · Finding 1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096603" y="1348011"/>
            <a:ext cx="1347788" cy="180975"/>
          </a:xfrm>
          <a:prstGeom prst="roundRect">
            <a:avLst>
              <a:gd name="adj" fmla="val 31911"/>
            </a:avLst>
          </a:prstGeom>
          <a:solidFill>
            <a:srgbClr val="E2E8F0"/>
          </a:solidFill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26"/>
              </a:lnSpc>
              <a:spcAft>
                <a:spcPts val="810"/>
              </a:spcAft>
              <a:buNone/>
            </a:pPr>
            <a:r>
              <a:rPr lang="en-US" sz="600" b="1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CLASS IMBALANCE</a:t>
            </a:r>
            <a:endParaRPr lang="en-US" sz="600" dirty="0"/>
          </a:p>
        </p:txBody>
      </p:sp>
      <p:sp>
        <p:nvSpPr>
          <p:cNvPr id="11" name="Text 9"/>
          <p:cNvSpPr/>
          <p:nvPr/>
        </p:nvSpPr>
        <p:spPr>
          <a:xfrm>
            <a:off x="1097533" y="1632272"/>
            <a:ext cx="3448050" cy="6524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70"/>
              </a:lnSpc>
              <a:spcAft>
                <a:spcPts val="810"/>
              </a:spcAft>
              <a:buNone/>
            </a:pPr>
            <a:r>
              <a:rPr lang="en-US" sz="2400" b="1" dirty="0">
                <a:solidFill>
                  <a:srgbClr val="1A20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 in 5 customers churned.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097533" y="2386980"/>
            <a:ext cx="3448050" cy="7143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4"/>
              </a:lnSpc>
              <a:spcAft>
                <a:spcPts val="1215"/>
              </a:spcAft>
              <a:buNone/>
            </a:pPr>
            <a:r>
              <a:rPr lang="en-US" sz="9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3.9 : 1 retention-to-churn ratio means raw accuracy is misleading — a model that always predicts "stay" already scores 79.6%. </a:t>
            </a:r>
            <a:r>
              <a:rPr lang="en-US" sz="900" b="1" dirty="0">
                <a:solidFill>
                  <a:srgbClr val="1A20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Recall and F1 are the right lenses</a:t>
            </a:r>
            <a:r>
              <a:rPr lang="en-US" sz="9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for this problem.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097645" y="3255727"/>
            <a:ext cx="1057275" cy="685800"/>
          </a:xfrm>
          <a:prstGeom prst="roundRect">
            <a:avLst>
              <a:gd name="adj" fmla="val 21333"/>
            </a:avLst>
          </a:prstGeom>
          <a:solidFill>
            <a:srgbClr val="FFFFFF"/>
          </a:solidFill>
          <a:ln/>
          <a:effectLst>
            <a:outerShdw blurRad="137160" dist="4572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233376" y="3391830"/>
            <a:ext cx="785813" cy="123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2"/>
              </a:lnSpc>
              <a:spcAft>
                <a:spcPts val="122"/>
              </a:spcAft>
              <a:buNone/>
            </a:pPr>
            <a:r>
              <a:rPr lang="en-US" sz="600" dirty="0">
                <a:solidFill>
                  <a:srgbClr val="71809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TRAIN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1233376" y="3529943"/>
            <a:ext cx="785813" cy="2762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400" b="1" dirty="0">
                <a:solidFill>
                  <a:srgbClr val="1A20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20.3%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292883" y="3255727"/>
            <a:ext cx="1057275" cy="685800"/>
          </a:xfrm>
          <a:prstGeom prst="roundRect">
            <a:avLst>
              <a:gd name="adj" fmla="val 21333"/>
            </a:avLst>
          </a:prstGeom>
          <a:solidFill>
            <a:srgbClr val="FFFFFF"/>
          </a:solidFill>
          <a:ln/>
          <a:effectLst>
            <a:outerShdw blurRad="137160" dist="4572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428615" y="3391830"/>
            <a:ext cx="785813" cy="123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2"/>
              </a:lnSpc>
              <a:spcAft>
                <a:spcPts val="122"/>
              </a:spcAft>
              <a:buNone/>
            </a:pPr>
            <a:r>
              <a:rPr lang="en-US" sz="600" dirty="0">
                <a:solidFill>
                  <a:srgbClr val="71809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TEST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2428615" y="3529943"/>
            <a:ext cx="785813" cy="2762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400" b="1" dirty="0">
                <a:solidFill>
                  <a:srgbClr val="1A20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20.4%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488122" y="3255727"/>
            <a:ext cx="1057275" cy="685800"/>
          </a:xfrm>
          <a:prstGeom prst="roundRect">
            <a:avLst>
              <a:gd name="adj" fmla="val 21333"/>
            </a:avLst>
          </a:prstGeom>
          <a:solidFill>
            <a:srgbClr val="2D3748"/>
          </a:solidFill>
          <a:ln/>
        </p:spPr>
      </p:sp>
      <p:sp>
        <p:nvSpPr>
          <p:cNvPr id="20" name="Text 18"/>
          <p:cNvSpPr/>
          <p:nvPr/>
        </p:nvSpPr>
        <p:spPr>
          <a:xfrm>
            <a:off x="3623853" y="3391830"/>
            <a:ext cx="785813" cy="123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2"/>
              </a:lnSpc>
              <a:spcAft>
                <a:spcPts val="122"/>
              </a:spcAft>
              <a:buNone/>
            </a:pPr>
            <a:r>
              <a:rPr lang="en-US" sz="6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STRATIFIED</a:t>
            </a:r>
            <a:endParaRPr lang="en-US" sz="600" dirty="0"/>
          </a:p>
        </p:txBody>
      </p:sp>
      <p:sp>
        <p:nvSpPr>
          <p:cNvPr id="21" name="Text 19"/>
          <p:cNvSpPr/>
          <p:nvPr/>
        </p:nvSpPr>
        <p:spPr>
          <a:xfrm>
            <a:off x="3623853" y="3529943"/>
            <a:ext cx="785813" cy="2762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 split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290914" y="1304255"/>
            <a:ext cx="2376487" cy="2376487"/>
          </a:xfrm>
          <a:prstGeom prst="ellipse">
            <a:avLst/>
          </a:prstGeom>
          <a:ln/>
          <a:effectLst>
            <a:outerShdw blurRad="274320" dist="13716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748114" y="1761455"/>
            <a:ext cx="1462088" cy="146208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5852852" y="2206303"/>
            <a:ext cx="1252537" cy="4095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40"/>
              </a:lnSpc>
              <a:buNone/>
            </a:pPr>
            <a:r>
              <a:rPr lang="en-US" sz="3200" b="1" dirty="0">
                <a:solidFill>
                  <a:srgbClr val="1A20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20.4%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6260046" y="2642034"/>
            <a:ext cx="438150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spcBef>
                <a:spcPts val="203"/>
              </a:spcBef>
              <a:buNone/>
            </a:pPr>
            <a:r>
              <a:rPr lang="en-US" sz="7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churn rate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5836518" y="3865662"/>
            <a:ext cx="90488" cy="90488"/>
          </a:xfrm>
          <a:prstGeom prst="roundRect">
            <a:avLst>
              <a:gd name="adj" fmla="val 51058"/>
            </a:avLst>
          </a:prstGeom>
          <a:solidFill>
            <a:srgbClr val="FFBCA6"/>
          </a:solidFill>
          <a:ln/>
        </p:spPr>
      </p:sp>
      <p:sp>
        <p:nvSpPr>
          <p:cNvPr id="27" name="Text 25"/>
          <p:cNvSpPr/>
          <p:nvPr/>
        </p:nvSpPr>
        <p:spPr>
          <a:xfrm>
            <a:off x="5981179" y="3834705"/>
            <a:ext cx="404813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8"/>
              </a:lnSpc>
              <a:buNone/>
            </a:pPr>
            <a:r>
              <a:rPr lang="en-US" sz="700" dirty="0">
                <a:solidFill>
                  <a:srgbClr val="2D374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Churned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6568157" y="3865662"/>
            <a:ext cx="90488" cy="90488"/>
          </a:xfrm>
          <a:prstGeom prst="roundRect">
            <a:avLst>
              <a:gd name="adj" fmla="val 51058"/>
            </a:avLst>
          </a:prstGeom>
          <a:solidFill>
            <a:srgbClr val="AED9E0"/>
          </a:solidFill>
          <a:ln/>
        </p:spPr>
      </p:sp>
      <p:sp>
        <p:nvSpPr>
          <p:cNvPr id="29" name="Text 27"/>
          <p:cNvSpPr/>
          <p:nvPr/>
        </p:nvSpPr>
        <p:spPr>
          <a:xfrm>
            <a:off x="6713265" y="3834705"/>
            <a:ext cx="409575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8"/>
              </a:lnSpc>
              <a:buNone/>
            </a:pPr>
            <a:r>
              <a:rPr lang="en-US" sz="700" dirty="0">
                <a:solidFill>
                  <a:srgbClr val="2D374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Retained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1097719" y="4244876"/>
            <a:ext cx="6948488" cy="280987"/>
          </a:xfrm>
          <a:prstGeom prst="rect">
            <a:avLst/>
          </a:prstGeom>
          <a:ln/>
        </p:spPr>
      </p:sp>
      <p:sp>
        <p:nvSpPr>
          <p:cNvPr id="31" name="Text 29"/>
          <p:cNvSpPr/>
          <p:nvPr/>
        </p:nvSpPr>
        <p:spPr>
          <a:xfrm>
            <a:off x="1097235" y="4360590"/>
            <a:ext cx="1585913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96"/>
              </a:lnSpc>
              <a:buNone/>
            </a:pPr>
            <a:r>
              <a:rPr lang="en-US" sz="800" dirty="0">
                <a:solidFill>
                  <a:srgbClr val="71809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Bank Customer Churn Analysis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899462" y="4360590"/>
            <a:ext cx="147637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96"/>
              </a:lnSpc>
              <a:buNone/>
            </a:pPr>
            <a:r>
              <a:rPr lang="en-US" sz="800" b="1" dirty="0">
                <a:solidFill>
                  <a:srgbClr val="2D374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06</a:t>
            </a:r>
            <a:endParaRPr lang="en-US" sz="800" dirty="0"/>
          </a:p>
        </p:txBody>
      </p:sp>
      <p:pic>
        <p:nvPicPr>
          <p:cNvPr id="3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7719" y="4244876"/>
            <a:ext cx="6948488" cy="28098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0" y="-771525"/>
            <a:ext cx="4114800" cy="4114800"/>
          </a:xfrm>
          <a:prstGeom prst="ellipse">
            <a:avLst/>
          </a:prstGeom>
          <a:solidFill>
            <a:srgbClr val="F4E8C1"/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2457450"/>
            <a:ext cx="3200400" cy="3200400"/>
          </a:xfrm>
          <a:prstGeom prst="ellipse">
            <a:avLst/>
          </a:prstGeom>
          <a:solidFill>
            <a:srgbClr val="AED9E0"/>
          </a:solidFill>
          <a:ln/>
        </p:spPr>
      </p:sp>
      <p:sp>
        <p:nvSpPr>
          <p:cNvPr id="5" name="Shape 3"/>
          <p:cNvSpPr/>
          <p:nvPr/>
        </p:nvSpPr>
        <p:spPr>
          <a:xfrm>
            <a:off x="7039942" y="2867992"/>
            <a:ext cx="733425" cy="733425"/>
          </a:xfrm>
          <a:prstGeom prst="ellipse">
            <a:avLst/>
          </a:prstGeom>
          <a:solidFill>
            <a:srgbClr val="C8B6FF"/>
          </a:solidFill>
          <a:ln/>
        </p:spPr>
      </p:sp>
      <p:sp>
        <p:nvSpPr>
          <p:cNvPr id="6" name="Shape 4"/>
          <p:cNvSpPr/>
          <p:nvPr/>
        </p:nvSpPr>
        <p:spPr>
          <a:xfrm>
            <a:off x="731007" y="411882"/>
            <a:ext cx="7681912" cy="4319588"/>
          </a:xfrm>
          <a:prstGeom prst="roundRect">
            <a:avLst>
              <a:gd name="adj" fmla="val 896"/>
            </a:avLst>
          </a:prstGeom>
          <a:solidFill>
            <a:srgbClr val="FFFFFF">
              <a:alpha val="4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96268" y="616148"/>
            <a:ext cx="276225" cy="276225"/>
          </a:xfrm>
          <a:prstGeom prst="roundRect">
            <a:avLst>
              <a:gd name="adj" fmla="val 21917"/>
            </a:avLst>
          </a:prstGeom>
          <a:solidFill>
            <a:srgbClr val="2D3748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2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462646" y="651867"/>
            <a:ext cx="776287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000" b="1" dirty="0">
                <a:solidFill>
                  <a:srgbClr val="2D374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ds.portfolio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126412" y="644686"/>
            <a:ext cx="919162" cy="219075"/>
          </a:xfrm>
          <a:prstGeom prst="roundRect">
            <a:avLst>
              <a:gd name="adj" fmla="val 52174"/>
            </a:avLst>
          </a:prstGeom>
          <a:solidFill>
            <a:srgbClr val="AED9E0"/>
          </a:solidFill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00" b="1" dirty="0">
                <a:solidFill>
                  <a:srgbClr val="2D374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EDA · Finding 2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097235" y="1045815"/>
            <a:ext cx="5486400" cy="6524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70"/>
              </a:lnSpc>
              <a:spcAft>
                <a:spcPts val="607"/>
              </a:spcAft>
              <a:buNone/>
            </a:pPr>
            <a:r>
              <a:rPr lang="en-US" sz="2400" b="1" dirty="0">
                <a:solidFill>
                  <a:srgbClr val="1A20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German customers: high balance, high churn.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097235" y="1775147"/>
            <a:ext cx="5486400" cy="3571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4"/>
              </a:lnSpc>
              <a:spcAft>
                <a:spcPts val="1620"/>
              </a:spcAft>
              <a:buNone/>
            </a:pPr>
            <a:r>
              <a:rPr lang="en-US" sz="9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Average balance by geography reveals a striking pattern — Germany leads on deposits but also on attrition. Geography alone almost dominated the first round of clustering.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525860" y="2989883"/>
            <a:ext cx="514350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2"/>
              </a:lnSpc>
              <a:buNone/>
            </a:pPr>
            <a:r>
              <a:rPr lang="en-US" sz="1000" b="1" dirty="0">
                <a:solidFill>
                  <a:srgbClr val="1A20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£62,093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097235" y="3232547"/>
            <a:ext cx="1371600" cy="514350"/>
          </a:xfrm>
          <a:prstGeom prst="roundRect">
            <a:avLst>
              <a:gd name="adj" fmla="val 31605"/>
            </a:avLst>
          </a:prstGeom>
          <a:solidFill>
            <a:srgbClr val="AED9E0"/>
          </a:solidFill>
          <a:ln/>
          <a:effectLst>
            <a:outerShdw blurRad="91440" dist="4572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449623" y="3824436"/>
            <a:ext cx="666750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spcBef>
                <a:spcPts val="607"/>
              </a:spcBef>
              <a:buNone/>
            </a:pPr>
            <a:r>
              <a:rPr lang="en-US" sz="1000" b="1" dirty="0">
                <a:solidFill>
                  <a:srgbClr val="2D374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🇫🇷 France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66292" y="4044590"/>
            <a:ext cx="1233488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spcBef>
                <a:spcPts val="122"/>
              </a:spcBef>
              <a:buNone/>
            </a:pPr>
            <a:r>
              <a:rPr lang="en-US" sz="700" dirty="0">
                <a:solidFill>
                  <a:srgbClr val="71809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Many zero-balance accounts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2933179" y="2337904"/>
            <a:ext cx="900113" cy="3286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92"/>
              </a:lnSpc>
              <a:buNone/>
            </a:pPr>
            <a:r>
              <a:rPr lang="en-US" sz="1700" b="1" dirty="0">
                <a:solidFill>
                  <a:srgbClr val="1A20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£119,730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2697435" y="2718197"/>
            <a:ext cx="1371600" cy="1028700"/>
          </a:xfrm>
          <a:prstGeom prst="roundRect">
            <a:avLst>
              <a:gd name="adj" fmla="val 7901"/>
            </a:avLst>
          </a:prstGeom>
          <a:solidFill>
            <a:srgbClr val="FFBCA6"/>
          </a:solidFill>
          <a:ln/>
          <a:effectLst>
            <a:outerShdw blurRad="91440" dist="4572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971279" y="3824436"/>
            <a:ext cx="823913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spcBef>
                <a:spcPts val="607"/>
              </a:spcBef>
              <a:buNone/>
            </a:pPr>
            <a:r>
              <a:rPr lang="en-US" sz="1000" b="1" dirty="0">
                <a:solidFill>
                  <a:srgbClr val="2D374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🇩🇪 Germany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916473" y="4044590"/>
            <a:ext cx="933450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spcBef>
                <a:spcPts val="122"/>
              </a:spcBef>
              <a:buNone/>
            </a:pPr>
            <a:r>
              <a:rPr lang="en-US" sz="700" b="1" dirty="0">
                <a:solidFill>
                  <a:srgbClr val="C855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↑ Highest churn rate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4759598" y="2989883"/>
            <a:ext cx="447675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2"/>
              </a:lnSpc>
              <a:buNone/>
            </a:pPr>
            <a:r>
              <a:rPr lang="en-US" sz="1000" b="1" dirty="0">
                <a:solidFill>
                  <a:srgbClr val="1A20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£61,818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297635" y="3232547"/>
            <a:ext cx="1371600" cy="514350"/>
          </a:xfrm>
          <a:prstGeom prst="roundRect">
            <a:avLst>
              <a:gd name="adj" fmla="val 31605"/>
            </a:avLst>
          </a:prstGeom>
          <a:solidFill>
            <a:srgbClr val="C8B6FF"/>
          </a:solidFill>
          <a:ln/>
          <a:effectLst>
            <a:outerShdw blurRad="91440" dist="4572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692923" y="3824436"/>
            <a:ext cx="581025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spcBef>
                <a:spcPts val="607"/>
              </a:spcBef>
              <a:buNone/>
            </a:pPr>
            <a:r>
              <a:rPr lang="en-US" sz="1000" b="1" dirty="0">
                <a:solidFill>
                  <a:srgbClr val="2D374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🇪🇸 Spain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366692" y="4044590"/>
            <a:ext cx="1233488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spcBef>
                <a:spcPts val="122"/>
              </a:spcBef>
              <a:buNone/>
            </a:pPr>
            <a:r>
              <a:rPr lang="en-US" sz="700" dirty="0">
                <a:solidFill>
                  <a:srgbClr val="71809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Many zero-balance accounts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5898282" y="2338388"/>
            <a:ext cx="2147887" cy="1843088"/>
          </a:xfrm>
          <a:prstGeom prst="roundRect">
            <a:avLst>
              <a:gd name="adj" fmla="val 3692"/>
            </a:avLst>
          </a:prstGeom>
          <a:solidFill>
            <a:srgbClr val="2D3748"/>
          </a:solidFill>
          <a:ln/>
        </p:spPr>
      </p:sp>
      <p:sp>
        <p:nvSpPr>
          <p:cNvPr id="25" name="Text 23"/>
          <p:cNvSpPr/>
          <p:nvPr/>
        </p:nvSpPr>
        <p:spPr>
          <a:xfrm>
            <a:off x="6081638" y="2587823"/>
            <a:ext cx="1781175" cy="1285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6"/>
              </a:lnSpc>
              <a:spcAft>
                <a:spcPts val="405"/>
              </a:spcAft>
              <a:buNone/>
            </a:pPr>
            <a:r>
              <a:rPr lang="en-US" sz="600" dirty="0">
                <a:solidFill>
                  <a:srgbClr val="AED9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IMPLICATION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6081638" y="2769729"/>
            <a:ext cx="1781175" cy="11620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1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£58k balance gap between Germany and the others was wide enough to dominate Euclidean distance — pulling Round 1 clusters around national borders rather than behaviour.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097719" y="4285431"/>
            <a:ext cx="6948488" cy="280987"/>
          </a:xfrm>
          <a:prstGeom prst="rect">
            <a:avLst/>
          </a:prstGeom>
          <a:ln/>
        </p:spPr>
      </p:sp>
      <p:sp>
        <p:nvSpPr>
          <p:cNvPr id="28" name="Text 26"/>
          <p:cNvSpPr/>
          <p:nvPr/>
        </p:nvSpPr>
        <p:spPr>
          <a:xfrm>
            <a:off x="1097235" y="4401145"/>
            <a:ext cx="1585913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96"/>
              </a:lnSpc>
              <a:buNone/>
            </a:pPr>
            <a:r>
              <a:rPr lang="en-US" sz="800" dirty="0">
                <a:solidFill>
                  <a:srgbClr val="71809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Bank Customer Churn Analysis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912298" y="4401145"/>
            <a:ext cx="133350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96"/>
              </a:lnSpc>
              <a:buNone/>
            </a:pPr>
            <a:r>
              <a:rPr lang="en-US" sz="800" b="1" dirty="0">
                <a:solidFill>
                  <a:srgbClr val="2D374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07</a:t>
            </a:r>
            <a:endParaRPr lang="en-US" sz="800" dirty="0"/>
          </a:p>
        </p:txBody>
      </p:sp>
      <p:pic>
        <p:nvPicPr>
          <p:cNvPr id="30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7719" y="4285431"/>
            <a:ext cx="6948488" cy="28098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0" y="-771525"/>
            <a:ext cx="4114800" cy="4114800"/>
          </a:xfrm>
          <a:prstGeom prst="ellipse">
            <a:avLst/>
          </a:prstGeom>
          <a:solidFill>
            <a:srgbClr val="F4E8C1"/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2457450"/>
            <a:ext cx="3200400" cy="3200400"/>
          </a:xfrm>
          <a:prstGeom prst="ellipse">
            <a:avLst/>
          </a:prstGeom>
          <a:solidFill>
            <a:srgbClr val="AED9E0"/>
          </a:solidFill>
          <a:ln/>
        </p:spPr>
      </p:sp>
      <p:sp>
        <p:nvSpPr>
          <p:cNvPr id="5" name="Shape 3"/>
          <p:cNvSpPr/>
          <p:nvPr/>
        </p:nvSpPr>
        <p:spPr>
          <a:xfrm rot="900000">
            <a:off x="5028233" y="1028215"/>
            <a:ext cx="733425" cy="2195513"/>
          </a:xfrm>
          <a:prstGeom prst="roundRect">
            <a:avLst>
              <a:gd name="adj" fmla="val 62176"/>
            </a:avLst>
          </a:prstGeom>
          <a:solidFill>
            <a:srgbClr val="FFBCA6"/>
          </a:solidFill>
          <a:ln/>
        </p:spPr>
      </p:sp>
      <p:sp>
        <p:nvSpPr>
          <p:cNvPr id="6" name="Shape 4"/>
          <p:cNvSpPr/>
          <p:nvPr/>
        </p:nvSpPr>
        <p:spPr>
          <a:xfrm>
            <a:off x="8046281" y="2056916"/>
            <a:ext cx="366712" cy="366712"/>
          </a:xfrm>
          <a:prstGeom prst="ellipse">
            <a:avLst/>
          </a:prstGeom>
          <a:solidFill>
            <a:srgbClr val="AED9E0"/>
          </a:solidFill>
          <a:ln/>
        </p:spPr>
      </p:sp>
      <p:sp>
        <p:nvSpPr>
          <p:cNvPr id="7" name="Shape 5"/>
          <p:cNvSpPr/>
          <p:nvPr/>
        </p:nvSpPr>
        <p:spPr>
          <a:xfrm>
            <a:off x="731007" y="411882"/>
            <a:ext cx="7681912" cy="4319588"/>
          </a:xfrm>
          <a:prstGeom prst="roundRect">
            <a:avLst>
              <a:gd name="adj" fmla="val 896"/>
            </a:avLst>
          </a:prstGeom>
          <a:solidFill>
            <a:srgbClr val="FFFFFF">
              <a:alpha val="4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096268" y="616148"/>
            <a:ext cx="276225" cy="276225"/>
          </a:xfrm>
          <a:prstGeom prst="roundRect">
            <a:avLst>
              <a:gd name="adj" fmla="val 21917"/>
            </a:avLst>
          </a:prstGeom>
          <a:solidFill>
            <a:srgbClr val="2D3748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2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462646" y="651867"/>
            <a:ext cx="776287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000" b="1" dirty="0">
                <a:solidFill>
                  <a:srgbClr val="2D374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ds.portfolio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122840" y="644686"/>
            <a:ext cx="923925" cy="219075"/>
          </a:xfrm>
          <a:prstGeom prst="roundRect">
            <a:avLst>
              <a:gd name="adj" fmla="val 52174"/>
            </a:avLst>
          </a:prstGeom>
          <a:solidFill>
            <a:srgbClr val="AED9E0"/>
          </a:solidFill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00" b="1" dirty="0">
                <a:solidFill>
                  <a:srgbClr val="2D374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EDA · Finding 3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097831" y="1045964"/>
            <a:ext cx="1419225" cy="180975"/>
          </a:xfrm>
          <a:prstGeom prst="roundRect">
            <a:avLst>
              <a:gd name="adj" fmla="val 31911"/>
            </a:avLst>
          </a:prstGeom>
          <a:solidFill>
            <a:srgbClr val="E2E8F0"/>
          </a:solidFill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26"/>
              </a:lnSpc>
              <a:spcAft>
                <a:spcPts val="810"/>
              </a:spcAft>
              <a:buNone/>
            </a:pPr>
            <a:r>
              <a:rPr lang="en-US" sz="600" b="1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LEADING INDICATOR</a:t>
            </a:r>
            <a:endParaRPr lang="en-US" sz="600" dirty="0"/>
          </a:p>
        </p:txBody>
      </p:sp>
      <p:sp>
        <p:nvSpPr>
          <p:cNvPr id="12" name="Text 10"/>
          <p:cNvSpPr/>
          <p:nvPr/>
        </p:nvSpPr>
        <p:spPr>
          <a:xfrm>
            <a:off x="1097533" y="1330375"/>
            <a:ext cx="3448050" cy="13049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70"/>
              </a:lnSpc>
              <a:spcAft>
                <a:spcPts val="810"/>
              </a:spcAft>
              <a:buNone/>
            </a:pPr>
            <a:r>
              <a:rPr lang="en-US" sz="2400" b="1" dirty="0">
                <a:solidFill>
                  <a:srgbClr val="1A20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Inactivity is the sharpest churn signal — and it's observable in real time.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097533" y="2737693"/>
            <a:ext cx="3448050" cy="7143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4"/>
              </a:lnSpc>
              <a:spcAft>
                <a:spcPts val="810"/>
              </a:spcAft>
              <a:buNone/>
            </a:pPr>
            <a:r>
              <a:rPr lang="en-US" sz="9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Active members churn at a dramatically lower rate than inactive ones. Unlike age or balance, activity status is something the bank already tracks and can act on the same day a customer goes quiet.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097533" y="3553420"/>
            <a:ext cx="3448050" cy="1114425"/>
          </a:xfrm>
          <a:prstGeom prst="roundRect">
            <a:avLst>
              <a:gd name="adj" fmla="val 10099"/>
            </a:avLst>
          </a:prstGeom>
          <a:solidFill>
            <a:srgbClr val="2D3748"/>
          </a:solidFill>
          <a:ln/>
        </p:spPr>
      </p:sp>
      <p:sp>
        <p:nvSpPr>
          <p:cNvPr id="15" name="Text 13"/>
          <p:cNvSpPr/>
          <p:nvPr/>
        </p:nvSpPr>
        <p:spPr>
          <a:xfrm>
            <a:off x="1280889" y="3737818"/>
            <a:ext cx="3081338" cy="1285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6"/>
              </a:lnSpc>
              <a:spcAft>
                <a:spcPts val="324"/>
              </a:spcAft>
              <a:buNone/>
            </a:pPr>
            <a:r>
              <a:rPr lang="en-US" sz="600" dirty="0">
                <a:solidFill>
                  <a:srgbClr val="FFBCA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ACTION TRIGGER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1280889" y="3908152"/>
            <a:ext cx="3081338" cy="57626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2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Automate a re-engagement workflow the moment a customer crosses into "inactive" status.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912296" y="1861505"/>
            <a:ext cx="3133725" cy="928688"/>
          </a:xfrm>
          <a:prstGeom prst="roundRect">
            <a:avLst>
              <a:gd name="adj" fmla="val 14542"/>
            </a:avLst>
          </a:prstGeom>
          <a:solidFill>
            <a:srgbClr val="FFFFFF"/>
          </a:solidFill>
          <a:ln/>
          <a:effectLst>
            <a:outerShdw blurRad="182880" dist="9144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094796" y="2079166"/>
            <a:ext cx="962025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4"/>
              </a:lnSpc>
              <a:buNone/>
            </a:pPr>
            <a:r>
              <a:rPr lang="en-US" sz="900" b="1" dirty="0">
                <a:solidFill>
                  <a:srgbClr val="1A20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Active members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453536" y="2043485"/>
            <a:ext cx="409575" cy="2476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44"/>
              </a:lnSpc>
              <a:buNone/>
            </a:pPr>
            <a:r>
              <a:rPr lang="en-US" sz="1200" b="1" dirty="0">
                <a:solidFill>
                  <a:srgbClr val="2D374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~14%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93271" y="2342629"/>
            <a:ext cx="2771775" cy="76200"/>
          </a:xfrm>
          <a:prstGeom prst="roundRect">
            <a:avLst>
              <a:gd name="adj" fmla="val 150000"/>
            </a:avLst>
          </a:prstGeom>
          <a:solidFill>
            <a:srgbClr val="E2E8F0"/>
          </a:solidFill>
          <a:ln/>
        </p:spPr>
      </p:sp>
      <p:sp>
        <p:nvSpPr>
          <p:cNvPr id="21" name="Shape 19"/>
          <p:cNvSpPr/>
          <p:nvPr/>
        </p:nvSpPr>
        <p:spPr>
          <a:xfrm>
            <a:off x="5095429" y="2342629"/>
            <a:ext cx="385763" cy="76200"/>
          </a:xfrm>
          <a:prstGeom prst="rect">
            <a:avLst/>
          </a:prstGeom>
          <a:solidFill>
            <a:srgbClr val="AED9E0"/>
          </a:solidFill>
          <a:ln/>
        </p:spPr>
      </p:sp>
      <p:sp>
        <p:nvSpPr>
          <p:cNvPr id="22" name="Text 20"/>
          <p:cNvSpPr/>
          <p:nvPr/>
        </p:nvSpPr>
        <p:spPr>
          <a:xfrm>
            <a:off x="5093271" y="2470212"/>
            <a:ext cx="2771775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spcBef>
                <a:spcPts val="405"/>
              </a:spcBef>
              <a:buNone/>
            </a:pPr>
            <a:r>
              <a:rPr lang="en-US" sz="700" dirty="0">
                <a:solidFill>
                  <a:srgbClr val="71809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Lower attrition · stable revenue base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4912296" y="2894000"/>
            <a:ext cx="3133725" cy="957263"/>
          </a:xfrm>
          <a:prstGeom prst="roundRect">
            <a:avLst>
              <a:gd name="adj" fmla="val 13687"/>
            </a:avLst>
          </a:prstGeom>
          <a:solidFill>
            <a:srgbClr val="FFFFFF"/>
          </a:solidFill>
          <a:ln w="14288">
            <a:solidFill>
              <a:srgbClr val="FFBCA6"/>
            </a:solidFill>
            <a:prstDash val="solid"/>
          </a:ln>
          <a:effectLst>
            <a:outerShdw blurRad="182880" dist="9144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108897" y="3125949"/>
            <a:ext cx="1057275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4"/>
              </a:lnSpc>
              <a:buNone/>
            </a:pPr>
            <a:r>
              <a:rPr lang="en-US" sz="900" b="1" dirty="0">
                <a:solidFill>
                  <a:srgbClr val="1A20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Inactive members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421091" y="3090267"/>
            <a:ext cx="428625" cy="2476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44"/>
              </a:lnSpc>
              <a:buNone/>
            </a:pPr>
            <a:r>
              <a:rPr lang="en-US" sz="1200" b="1" dirty="0">
                <a:solidFill>
                  <a:srgbClr val="C855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~27%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107558" y="3389412"/>
            <a:ext cx="2743200" cy="76200"/>
          </a:xfrm>
          <a:prstGeom prst="roundRect">
            <a:avLst>
              <a:gd name="adj" fmla="val 150000"/>
            </a:avLst>
          </a:prstGeom>
          <a:solidFill>
            <a:srgbClr val="E2E8F0"/>
          </a:solidFill>
          <a:ln/>
        </p:spPr>
      </p:sp>
      <p:sp>
        <p:nvSpPr>
          <p:cNvPr id="27" name="Shape 25"/>
          <p:cNvSpPr/>
          <p:nvPr/>
        </p:nvSpPr>
        <p:spPr>
          <a:xfrm>
            <a:off x="5109642" y="3389412"/>
            <a:ext cx="738188" cy="76200"/>
          </a:xfrm>
          <a:prstGeom prst="rect">
            <a:avLst/>
          </a:prstGeom>
          <a:solidFill>
            <a:srgbClr val="FFBCA6"/>
          </a:solidFill>
          <a:ln/>
        </p:spPr>
      </p:sp>
      <p:sp>
        <p:nvSpPr>
          <p:cNvPr id="28" name="Text 26"/>
          <p:cNvSpPr/>
          <p:nvPr/>
        </p:nvSpPr>
        <p:spPr>
          <a:xfrm>
            <a:off x="5107558" y="3516995"/>
            <a:ext cx="2743200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spcBef>
                <a:spcPts val="405"/>
              </a:spcBef>
              <a:buNone/>
            </a:pPr>
            <a:r>
              <a:rPr lang="en-US" sz="700" b="1" dirty="0">
                <a:solidFill>
                  <a:srgbClr val="C855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~2× higher churn risk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1097719" y="4667473"/>
            <a:ext cx="6948488" cy="280987"/>
          </a:xfrm>
          <a:prstGeom prst="rect">
            <a:avLst/>
          </a:prstGeom>
          <a:ln/>
        </p:spPr>
      </p:sp>
      <p:sp>
        <p:nvSpPr>
          <p:cNvPr id="30" name="Text 28"/>
          <p:cNvSpPr/>
          <p:nvPr/>
        </p:nvSpPr>
        <p:spPr>
          <a:xfrm>
            <a:off x="1097235" y="4783187"/>
            <a:ext cx="1585913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96"/>
              </a:lnSpc>
              <a:buNone/>
            </a:pPr>
            <a:r>
              <a:rPr lang="en-US" sz="800" dirty="0">
                <a:solidFill>
                  <a:srgbClr val="71809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Bank Customer Churn Analysis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899574" y="4783187"/>
            <a:ext cx="147637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96"/>
              </a:lnSpc>
              <a:buNone/>
            </a:pPr>
            <a:r>
              <a:rPr lang="en-US" sz="800" b="1" dirty="0">
                <a:solidFill>
                  <a:srgbClr val="2D374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08</a:t>
            </a:r>
            <a:endParaRPr lang="en-US" sz="800" dirty="0"/>
          </a:p>
        </p:txBody>
      </p:sp>
      <p:pic>
        <p:nvPicPr>
          <p:cNvPr id="3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7719" y="4667473"/>
            <a:ext cx="6948488" cy="28098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0" y="-771525"/>
            <a:ext cx="4114800" cy="4114800"/>
          </a:xfrm>
          <a:prstGeom prst="ellipse">
            <a:avLst/>
          </a:prstGeom>
          <a:solidFill>
            <a:srgbClr val="F4E8C1"/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2457450"/>
            <a:ext cx="3200400" cy="3200400"/>
          </a:xfrm>
          <a:prstGeom prst="ellipse">
            <a:avLst/>
          </a:prstGeom>
          <a:solidFill>
            <a:srgbClr val="AED9E0"/>
          </a:solidFill>
          <a:ln/>
        </p:spPr>
      </p:sp>
      <p:sp>
        <p:nvSpPr>
          <p:cNvPr id="5" name="Shape 3"/>
          <p:cNvSpPr/>
          <p:nvPr/>
        </p:nvSpPr>
        <p:spPr>
          <a:xfrm>
            <a:off x="6218895" y="2761320"/>
            <a:ext cx="1095375" cy="1095375"/>
          </a:xfrm>
          <a:prstGeom prst="ellipse">
            <a:avLst/>
          </a:prstGeom>
          <a:solidFill>
            <a:srgbClr val="C8B6FF"/>
          </a:solidFill>
          <a:ln/>
        </p:spPr>
      </p:sp>
      <p:sp>
        <p:nvSpPr>
          <p:cNvPr id="6" name="Shape 4"/>
          <p:cNvSpPr/>
          <p:nvPr/>
        </p:nvSpPr>
        <p:spPr>
          <a:xfrm>
            <a:off x="731007" y="411882"/>
            <a:ext cx="7681912" cy="4319588"/>
          </a:xfrm>
          <a:prstGeom prst="roundRect">
            <a:avLst>
              <a:gd name="adj" fmla="val 896"/>
            </a:avLst>
          </a:prstGeom>
          <a:solidFill>
            <a:srgbClr val="FFFFFF">
              <a:alpha val="4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96268" y="616148"/>
            <a:ext cx="276225" cy="276225"/>
          </a:xfrm>
          <a:prstGeom prst="roundRect">
            <a:avLst>
              <a:gd name="adj" fmla="val 21917"/>
            </a:avLst>
          </a:prstGeom>
          <a:solidFill>
            <a:srgbClr val="2D3748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2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462646" y="651867"/>
            <a:ext cx="776287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000" b="1" dirty="0">
                <a:solidFill>
                  <a:srgbClr val="2D374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ds.portfolio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78948" y="644686"/>
            <a:ext cx="1166812" cy="219075"/>
          </a:xfrm>
          <a:prstGeom prst="roundRect">
            <a:avLst>
              <a:gd name="adj" fmla="val 52174"/>
            </a:avLst>
          </a:prstGeom>
          <a:solidFill>
            <a:srgbClr val="C8B6FF"/>
          </a:solidFill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00" b="1" dirty="0">
                <a:solidFill>
                  <a:srgbClr val="2D374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Feature Engineering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097235" y="1045815"/>
            <a:ext cx="5486400" cy="6524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70"/>
              </a:lnSpc>
              <a:spcAft>
                <a:spcPts val="810"/>
              </a:spcAft>
              <a:buNone/>
            </a:pPr>
            <a:r>
              <a:rPr lang="en-US" sz="2400" b="1" dirty="0">
                <a:solidFill>
                  <a:srgbClr val="1A20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Two domain-driven features that paid off.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097235" y="1800895"/>
            <a:ext cx="5943600" cy="3571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4"/>
              </a:lnSpc>
              <a:spcAft>
                <a:spcPts val="1620"/>
              </a:spcAft>
              <a:buNone/>
            </a:pPr>
            <a:r>
              <a:rPr lang="en-US" sz="9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Both engineered features capture </a:t>
            </a:r>
            <a:r>
              <a:rPr lang="en-US" sz="900" i="1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relationships</a:t>
            </a:r>
            <a:r>
              <a:rPr lang="en-US" sz="9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the raw columns can't express on their own — and one of them ranked third in Random Forest importance.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096789" y="2363688"/>
            <a:ext cx="3338513" cy="2166938"/>
          </a:xfrm>
          <a:prstGeom prst="roundRect">
            <a:avLst>
              <a:gd name="adj" fmla="val 2671"/>
            </a:avLst>
          </a:prstGeom>
          <a:solidFill>
            <a:srgbClr val="FFFFFF"/>
          </a:solidFill>
          <a:ln/>
          <a:effectLst>
            <a:outerShdw blurRad="182880" dist="9144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325389" y="2591805"/>
            <a:ext cx="2881313" cy="123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2"/>
              </a:lnSpc>
              <a:spcAft>
                <a:spcPts val="405"/>
              </a:spcAft>
              <a:buNone/>
            </a:pPr>
            <a:r>
              <a:rPr lang="en-US" sz="600" dirty="0">
                <a:solidFill>
                  <a:srgbClr val="71809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FEATURE 01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1325389" y="2765933"/>
            <a:ext cx="2881313" cy="2762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spcAft>
                <a:spcPts val="607"/>
              </a:spcAft>
              <a:buNone/>
            </a:pPr>
            <a:r>
              <a:rPr lang="en-US" sz="1400" b="1" dirty="0">
                <a:solidFill>
                  <a:srgbClr val="1A20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balance_to_income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25389" y="3117726"/>
            <a:ext cx="2881313" cy="371475"/>
          </a:xfrm>
          <a:prstGeom prst="roundRect">
            <a:avLst>
              <a:gd name="adj" fmla="val 12118"/>
            </a:avLst>
          </a:prstGeom>
          <a:solidFill>
            <a:srgbClr val="F7FAFC"/>
          </a:solidFill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88"/>
              </a:lnSpc>
              <a:spcAft>
                <a:spcPts val="810"/>
              </a:spcAft>
              <a:buNone/>
            </a:pPr>
            <a:r>
              <a:rPr lang="en-US" sz="700" dirty="0">
                <a:solidFill>
                  <a:srgbClr val="2D374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Balance ÷ EstimatedSalary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1325389" y="3592227"/>
            <a:ext cx="2881313" cy="4714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42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proxy for relative wealth. Median across the dataset is </a:t>
            </a:r>
            <a:r>
              <a:rPr lang="en-US" sz="800" b="1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0.75</a:t>
            </a:r>
            <a:r>
              <a:rPr lang="en-US" sz="8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 Churned customers tend toward higher ratios — wealthier customers feel underserved.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325389" y="4064347"/>
            <a:ext cx="2881313" cy="2381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6"/>
              </a:lnSpc>
              <a:buNone/>
            </a:pPr>
            <a:r>
              <a:rPr lang="en-US" sz="600" i="1" dirty="0">
                <a:solidFill>
                  <a:srgbClr val="71809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Caveat: EstimatedSalary is modelled, not verified. Treat as directional.</a:t>
            </a:r>
            <a:endParaRPr lang="en-US" sz="600" dirty="0"/>
          </a:p>
        </p:txBody>
      </p:sp>
      <p:sp>
        <p:nvSpPr>
          <p:cNvPr id="18" name="Shape 16"/>
          <p:cNvSpPr/>
          <p:nvPr/>
        </p:nvSpPr>
        <p:spPr>
          <a:xfrm>
            <a:off x="4708699" y="2363688"/>
            <a:ext cx="3338513" cy="2166938"/>
          </a:xfrm>
          <a:prstGeom prst="roundRect">
            <a:avLst>
              <a:gd name="adj" fmla="val 2671"/>
            </a:avLst>
          </a:prstGeom>
          <a:solidFill>
            <a:srgbClr val="2D3748"/>
          </a:solidFill>
          <a:ln/>
        </p:spPr>
      </p:sp>
      <p:sp>
        <p:nvSpPr>
          <p:cNvPr id="19" name="Shape 17"/>
          <p:cNvSpPr/>
          <p:nvPr/>
        </p:nvSpPr>
        <p:spPr>
          <a:xfrm>
            <a:off x="7224750" y="2090031"/>
            <a:ext cx="1095375" cy="1095375"/>
          </a:xfrm>
          <a:prstGeom prst="ellipse">
            <a:avLst/>
          </a:prstGeom>
          <a:solidFill>
            <a:srgbClr val="FFBCA6">
              <a:alpha val="3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4937299" y="2591805"/>
            <a:ext cx="2881313" cy="123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2"/>
              </a:lnSpc>
              <a:spcAft>
                <a:spcPts val="405"/>
              </a:spcAft>
              <a:buNone/>
            </a:pPr>
            <a:r>
              <a:rPr lang="en-US" sz="6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FEATURE 02 · ⭐ TOP 3 PREDICTOR</a:t>
            </a:r>
            <a:endParaRPr lang="en-US" sz="600" dirty="0"/>
          </a:p>
        </p:txBody>
      </p:sp>
      <p:sp>
        <p:nvSpPr>
          <p:cNvPr id="21" name="Text 19"/>
          <p:cNvSpPr/>
          <p:nvPr/>
        </p:nvSpPr>
        <p:spPr>
          <a:xfrm>
            <a:off x="4937299" y="2765933"/>
            <a:ext cx="2881313" cy="2762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spcAft>
                <a:spcPts val="607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income_v_product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937299" y="3117726"/>
            <a:ext cx="2881313" cy="371475"/>
          </a:xfrm>
          <a:prstGeom prst="roundRect">
            <a:avLst>
              <a:gd name="adj" fmla="val 12118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88"/>
              </a:lnSpc>
              <a:spcAft>
                <a:spcPts val="810"/>
              </a:spcAft>
              <a:buNone/>
            </a:pPr>
            <a:r>
              <a:rPr lang="en-US" sz="70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EstimatedSalary ÷ NumOfProducts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4937299" y="3592227"/>
            <a:ext cx="2881313" cy="4714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42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proxy for revenue per product slot. Ranked </a:t>
            </a:r>
            <a:r>
              <a:rPr lang="en-US" sz="800" b="1" dirty="0">
                <a:solidFill>
                  <a:srgbClr val="FFBCA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3rd in RF importance (0.088)</a:t>
            </a:r>
            <a:r>
              <a:rPr lang="en-US" sz="8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above CreditScore and EstimatedSalary individually.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937299" y="4064347"/>
            <a:ext cx="2881313" cy="2381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6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Validation that engineered features beat the raw inputs.</a:t>
            </a:r>
            <a:endParaRPr lang="en-US" sz="600" dirty="0"/>
          </a:p>
        </p:txBody>
      </p:sp>
      <p:sp>
        <p:nvSpPr>
          <p:cNvPr id="25" name="Shape 23"/>
          <p:cNvSpPr/>
          <p:nvPr/>
        </p:nvSpPr>
        <p:spPr>
          <a:xfrm>
            <a:off x="1097719" y="4531296"/>
            <a:ext cx="6948488" cy="280987"/>
          </a:xfrm>
          <a:prstGeom prst="rect">
            <a:avLst/>
          </a:prstGeom>
          <a:ln/>
        </p:spPr>
      </p:sp>
      <p:sp>
        <p:nvSpPr>
          <p:cNvPr id="26" name="Text 24"/>
          <p:cNvSpPr/>
          <p:nvPr/>
        </p:nvSpPr>
        <p:spPr>
          <a:xfrm>
            <a:off x="1097235" y="4647009"/>
            <a:ext cx="1585913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96"/>
              </a:lnSpc>
              <a:buNone/>
            </a:pPr>
            <a:r>
              <a:rPr lang="en-US" sz="800" dirty="0">
                <a:solidFill>
                  <a:srgbClr val="71809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Bank Customer Churn Analysis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899462" y="4647009"/>
            <a:ext cx="147637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96"/>
              </a:lnSpc>
              <a:buNone/>
            </a:pPr>
            <a:r>
              <a:rPr lang="en-US" sz="800" b="1" dirty="0">
                <a:solidFill>
                  <a:srgbClr val="2D374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09</a:t>
            </a:r>
            <a:endParaRPr lang="en-US" sz="800" dirty="0"/>
          </a:p>
        </p:txBody>
      </p:sp>
      <p:pic>
        <p:nvPicPr>
          <p:cNvPr id="2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25389" y="4064347"/>
            <a:ext cx="2881313" cy="238125"/>
          </a:xfrm>
          <a:prstGeom prst="rect">
            <a:avLst/>
          </a:prstGeom>
        </p:spPr>
      </p:pic>
      <p:pic>
        <p:nvPicPr>
          <p:cNvPr id="2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37299" y="4064347"/>
            <a:ext cx="2881313" cy="238125"/>
          </a:xfrm>
          <a:prstGeom prst="rect">
            <a:avLst/>
          </a:prstGeom>
        </p:spPr>
      </p:pic>
      <p:pic>
        <p:nvPicPr>
          <p:cNvPr id="3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97719" y="4531296"/>
            <a:ext cx="6948488" cy="28098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0" y="-771525"/>
            <a:ext cx="4114800" cy="4114800"/>
          </a:xfrm>
          <a:prstGeom prst="ellipse">
            <a:avLst/>
          </a:prstGeom>
          <a:solidFill>
            <a:srgbClr val="F4E8C1"/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2457450"/>
            <a:ext cx="3200400" cy="3200400"/>
          </a:xfrm>
          <a:prstGeom prst="ellipse">
            <a:avLst/>
          </a:prstGeom>
          <a:solidFill>
            <a:srgbClr val="AED9E0"/>
          </a:solidFill>
          <a:ln/>
        </p:spPr>
      </p:sp>
      <p:sp>
        <p:nvSpPr>
          <p:cNvPr id="5" name="Shape 3"/>
          <p:cNvSpPr/>
          <p:nvPr/>
        </p:nvSpPr>
        <p:spPr>
          <a:xfrm rot="900000">
            <a:off x="5028233" y="1028216"/>
            <a:ext cx="733425" cy="2195513"/>
          </a:xfrm>
          <a:prstGeom prst="roundRect">
            <a:avLst>
              <a:gd name="adj" fmla="val 62176"/>
            </a:avLst>
          </a:prstGeom>
          <a:solidFill>
            <a:srgbClr val="FFBCA6"/>
          </a:solidFill>
          <a:ln/>
        </p:spPr>
      </p:sp>
      <p:sp>
        <p:nvSpPr>
          <p:cNvPr id="6" name="Shape 4"/>
          <p:cNvSpPr/>
          <p:nvPr/>
        </p:nvSpPr>
        <p:spPr>
          <a:xfrm>
            <a:off x="731007" y="411882"/>
            <a:ext cx="7681912" cy="4319588"/>
          </a:xfrm>
          <a:prstGeom prst="roundRect">
            <a:avLst>
              <a:gd name="adj" fmla="val 896"/>
            </a:avLst>
          </a:prstGeom>
          <a:solidFill>
            <a:srgbClr val="FFFFFF">
              <a:alpha val="4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96268" y="616148"/>
            <a:ext cx="276225" cy="276225"/>
          </a:xfrm>
          <a:prstGeom prst="roundRect">
            <a:avLst>
              <a:gd name="adj" fmla="val 21917"/>
            </a:avLst>
          </a:prstGeom>
          <a:solidFill>
            <a:srgbClr val="2D3748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2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462646" y="651867"/>
            <a:ext cx="776287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000" b="1" dirty="0">
                <a:solidFill>
                  <a:srgbClr val="2D374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ds.portfolio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098767" y="644686"/>
            <a:ext cx="947737" cy="219075"/>
          </a:xfrm>
          <a:prstGeom prst="roundRect">
            <a:avLst>
              <a:gd name="adj" fmla="val 52174"/>
            </a:avLst>
          </a:prstGeom>
          <a:solidFill>
            <a:srgbClr val="AED9E0"/>
          </a:solidFill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00" b="1" dirty="0">
                <a:solidFill>
                  <a:srgbClr val="2D374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Baseline Model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096900" y="1538734"/>
            <a:ext cx="1309687" cy="180975"/>
          </a:xfrm>
          <a:prstGeom prst="roundRect">
            <a:avLst>
              <a:gd name="adj" fmla="val 31911"/>
            </a:avLst>
          </a:prstGeom>
          <a:solidFill>
            <a:srgbClr val="E2E8F0"/>
          </a:solidFill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26"/>
              </a:lnSpc>
              <a:spcAft>
                <a:spcPts val="810"/>
              </a:spcAft>
              <a:buNone/>
            </a:pPr>
            <a:r>
              <a:rPr lang="en-US" sz="600" b="1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LOGISTIC REGRESSION</a:t>
            </a:r>
            <a:endParaRPr lang="en-US" sz="600" dirty="0"/>
          </a:p>
        </p:txBody>
      </p:sp>
      <p:sp>
        <p:nvSpPr>
          <p:cNvPr id="11" name="Text 9"/>
          <p:cNvSpPr/>
          <p:nvPr/>
        </p:nvSpPr>
        <p:spPr>
          <a:xfrm>
            <a:off x="1097719" y="1822847"/>
            <a:ext cx="3062287" cy="6143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19"/>
              </a:lnSpc>
              <a:spcAft>
                <a:spcPts val="810"/>
              </a:spcAft>
              <a:buNone/>
            </a:pPr>
            <a:r>
              <a:rPr lang="en-US" sz="2300" b="1" dirty="0">
                <a:solidFill>
                  <a:srgbClr val="1A20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Accurate on paper, blind in practice.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1097719" y="2540050"/>
            <a:ext cx="3062287" cy="6858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Aft>
                <a:spcPts val="810"/>
              </a:spcAft>
              <a:buNone/>
            </a:pPr>
            <a:r>
              <a:rPr lang="en-US" sz="9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baseline scores 81% accuracy — but recall of just 21.5% means it misses </a:t>
            </a:r>
            <a:r>
              <a:rPr lang="en-US" sz="900" b="1" dirty="0">
                <a:solidFill>
                  <a:srgbClr val="C855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~79% of actual churners</a:t>
            </a:r>
            <a:r>
              <a:rPr lang="en-US" sz="9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at the default 0.5 threshold. The minimal train-test gap shows it's not overfit; it's just blunt.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7719" y="3328243"/>
            <a:ext cx="3062287" cy="423862"/>
          </a:xfrm>
          <a:prstGeom prst="roundRect">
            <a:avLst>
              <a:gd name="adj" fmla="val 9308"/>
            </a:avLst>
          </a:prstGeom>
          <a:solidFill>
            <a:srgbClr val="FEF3E6"/>
          </a:solidFill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58"/>
              </a:lnSpc>
              <a:buNone/>
            </a:pPr>
            <a:r>
              <a:rPr lang="en-US" sz="700" dirty="0">
                <a:solidFill>
                  <a:srgbClr val="7B341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⚠ newton-cg solver produced convergence warnings — increase max_iter or switch to lbfgs for production use.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4526719" y="1044885"/>
            <a:ext cx="3519487" cy="3200400"/>
          </a:xfrm>
          <a:prstGeom prst="roundRect">
            <a:avLst>
              <a:gd name="adj" fmla="val 1224"/>
            </a:avLst>
          </a:prstGeom>
          <a:solidFill>
            <a:srgbClr val="FFFFFF"/>
          </a:solidFill>
          <a:ln/>
          <a:effectLst>
            <a:outerShdw blurRad="182880" dist="9144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55319" y="1273783"/>
            <a:ext cx="3062287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spcAft>
                <a:spcPts val="810"/>
              </a:spcAft>
              <a:buNone/>
            </a:pPr>
            <a:r>
              <a:rPr lang="en-US" sz="700" dirty="0">
                <a:solidFill>
                  <a:srgbClr val="71809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TEST SET PERFORMANCE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4754463" y="1522102"/>
            <a:ext cx="561975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4"/>
              </a:lnSpc>
              <a:buNone/>
            </a:pPr>
            <a:r>
              <a:rPr lang="en-US" sz="900" b="1" dirty="0">
                <a:solidFill>
                  <a:srgbClr val="2D374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Accuracy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98381" y="1584015"/>
            <a:ext cx="1771650" cy="52388"/>
          </a:xfrm>
          <a:prstGeom prst="roundRect">
            <a:avLst>
              <a:gd name="adj" fmla="val 214213"/>
            </a:avLst>
          </a:prstGeom>
          <a:solidFill>
            <a:srgbClr val="E2E8F0"/>
          </a:solidFill>
          <a:ln/>
        </p:spPr>
      </p:sp>
      <p:sp>
        <p:nvSpPr>
          <p:cNvPr id="18" name="Shape 16"/>
          <p:cNvSpPr/>
          <p:nvPr/>
        </p:nvSpPr>
        <p:spPr>
          <a:xfrm>
            <a:off x="5498604" y="1584015"/>
            <a:ext cx="1438275" cy="52388"/>
          </a:xfrm>
          <a:prstGeom prst="rect">
            <a:avLst/>
          </a:prstGeom>
          <a:solidFill>
            <a:srgbClr val="AED9E0"/>
          </a:solidFill>
          <a:ln/>
        </p:spPr>
      </p:sp>
      <p:sp>
        <p:nvSpPr>
          <p:cNvPr id="19" name="Text 17"/>
          <p:cNvSpPr/>
          <p:nvPr/>
        </p:nvSpPr>
        <p:spPr>
          <a:xfrm>
            <a:off x="7360890" y="1514996"/>
            <a:ext cx="457200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512"/>
              </a:lnSpc>
              <a:buNone/>
            </a:pPr>
            <a:r>
              <a:rPr lang="en-US" sz="1000" b="1" dirty="0">
                <a:solidFill>
                  <a:srgbClr val="1A20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0.812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54947" y="1791184"/>
            <a:ext cx="538163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4"/>
              </a:lnSpc>
              <a:buNone/>
            </a:pPr>
            <a:r>
              <a:rPr lang="en-US" sz="900" b="1" dirty="0">
                <a:solidFill>
                  <a:srgbClr val="2D374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Precision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75052" y="1853096"/>
            <a:ext cx="1795462" cy="52388"/>
          </a:xfrm>
          <a:prstGeom prst="roundRect">
            <a:avLst>
              <a:gd name="adj" fmla="val 214213"/>
            </a:avLst>
          </a:prstGeom>
          <a:solidFill>
            <a:srgbClr val="E2E8F0"/>
          </a:solidFill>
          <a:ln/>
        </p:spPr>
      </p:sp>
      <p:sp>
        <p:nvSpPr>
          <p:cNvPr id="22" name="Shape 20"/>
          <p:cNvSpPr/>
          <p:nvPr/>
        </p:nvSpPr>
        <p:spPr>
          <a:xfrm>
            <a:off x="5476242" y="1853096"/>
            <a:ext cx="1095375" cy="52388"/>
          </a:xfrm>
          <a:prstGeom prst="rect">
            <a:avLst/>
          </a:prstGeom>
          <a:solidFill>
            <a:srgbClr val="C8B6FF"/>
          </a:solidFill>
          <a:ln/>
        </p:spPr>
      </p:sp>
      <p:sp>
        <p:nvSpPr>
          <p:cNvPr id="23" name="Text 21"/>
          <p:cNvSpPr/>
          <p:nvPr/>
        </p:nvSpPr>
        <p:spPr>
          <a:xfrm>
            <a:off x="7360890" y="1784077"/>
            <a:ext cx="457200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512"/>
              </a:lnSpc>
              <a:buNone/>
            </a:pPr>
            <a:r>
              <a:rPr lang="en-US" sz="1000" b="1" dirty="0">
                <a:solidFill>
                  <a:srgbClr val="1A20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0.611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55059" y="2060265"/>
            <a:ext cx="347663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4"/>
              </a:lnSpc>
              <a:buNone/>
            </a:pPr>
            <a:r>
              <a:rPr lang="en-US" sz="900" b="1" dirty="0">
                <a:solidFill>
                  <a:srgbClr val="C855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Recall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284663" y="2122177"/>
            <a:ext cx="1985963" cy="52388"/>
          </a:xfrm>
          <a:prstGeom prst="roundRect">
            <a:avLst>
              <a:gd name="adj" fmla="val 214213"/>
            </a:avLst>
          </a:prstGeom>
          <a:solidFill>
            <a:srgbClr val="E2E8F0"/>
          </a:solidFill>
          <a:ln/>
        </p:spPr>
      </p:sp>
      <p:sp>
        <p:nvSpPr>
          <p:cNvPr id="26" name="Shape 24"/>
          <p:cNvSpPr/>
          <p:nvPr/>
        </p:nvSpPr>
        <p:spPr>
          <a:xfrm>
            <a:off x="5284701" y="2122177"/>
            <a:ext cx="428625" cy="52388"/>
          </a:xfrm>
          <a:prstGeom prst="rect">
            <a:avLst/>
          </a:prstGeom>
          <a:solidFill>
            <a:srgbClr val="FFBCA6"/>
          </a:solidFill>
          <a:ln/>
        </p:spPr>
      </p:sp>
      <p:sp>
        <p:nvSpPr>
          <p:cNvPr id="27" name="Text 25"/>
          <p:cNvSpPr/>
          <p:nvPr/>
        </p:nvSpPr>
        <p:spPr>
          <a:xfrm>
            <a:off x="7360890" y="2053158"/>
            <a:ext cx="457200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512"/>
              </a:lnSpc>
              <a:buNone/>
            </a:pPr>
            <a:r>
              <a:rPr lang="en-US" sz="1000" b="1" dirty="0">
                <a:solidFill>
                  <a:srgbClr val="C855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0.215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755617" y="2329346"/>
            <a:ext cx="471488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4"/>
              </a:lnSpc>
              <a:buNone/>
            </a:pPr>
            <a:r>
              <a:rPr lang="en-US" sz="900" b="1" dirty="0">
                <a:solidFill>
                  <a:srgbClr val="2D374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F1 Score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411428" y="2391259"/>
            <a:ext cx="1857375" cy="52388"/>
          </a:xfrm>
          <a:prstGeom prst="roundRect">
            <a:avLst>
              <a:gd name="adj" fmla="val 214213"/>
            </a:avLst>
          </a:prstGeom>
          <a:solidFill>
            <a:srgbClr val="E2E8F0"/>
          </a:solidFill>
          <a:ln/>
        </p:spPr>
      </p:sp>
      <p:sp>
        <p:nvSpPr>
          <p:cNvPr id="30" name="Shape 28"/>
          <p:cNvSpPr/>
          <p:nvPr/>
        </p:nvSpPr>
        <p:spPr>
          <a:xfrm>
            <a:off x="5410981" y="2391259"/>
            <a:ext cx="590550" cy="52388"/>
          </a:xfrm>
          <a:prstGeom prst="rect">
            <a:avLst/>
          </a:prstGeom>
          <a:solidFill>
            <a:srgbClr val="F4E8C1"/>
          </a:solidFill>
          <a:ln/>
        </p:spPr>
      </p:sp>
      <p:sp>
        <p:nvSpPr>
          <p:cNvPr id="31" name="Text 29"/>
          <p:cNvSpPr/>
          <p:nvPr/>
        </p:nvSpPr>
        <p:spPr>
          <a:xfrm>
            <a:off x="7360890" y="2322240"/>
            <a:ext cx="457200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512"/>
              </a:lnSpc>
              <a:buNone/>
            </a:pPr>
            <a:r>
              <a:rPr lang="en-US" sz="1000" b="1" dirty="0">
                <a:solidFill>
                  <a:srgbClr val="1A20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0.318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55319" y="2643076"/>
            <a:ext cx="3062287" cy="371475"/>
          </a:xfrm>
          <a:prstGeom prst="roundRect">
            <a:avLst>
              <a:gd name="adj" fmla="val 12118"/>
            </a:avLst>
          </a:prstGeom>
          <a:solidFill>
            <a:srgbClr val="2D3748"/>
          </a:solidFill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04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AUC</a:t>
            </a:r>
            <a:r>
              <a:rPr lang="en-US" sz="1100" b="1" dirty="0">
                <a:solidFill>
                  <a:srgbClr val="AED9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0.768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097719" y="4244876"/>
            <a:ext cx="6948488" cy="280987"/>
          </a:xfrm>
          <a:prstGeom prst="rect">
            <a:avLst/>
          </a:prstGeom>
          <a:ln/>
        </p:spPr>
      </p:sp>
      <p:sp>
        <p:nvSpPr>
          <p:cNvPr id="34" name="Text 32"/>
          <p:cNvSpPr/>
          <p:nvPr/>
        </p:nvSpPr>
        <p:spPr>
          <a:xfrm>
            <a:off x="1097235" y="4360590"/>
            <a:ext cx="1585913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96"/>
              </a:lnSpc>
              <a:buNone/>
            </a:pPr>
            <a:r>
              <a:rPr lang="en-US" sz="800" dirty="0">
                <a:solidFill>
                  <a:srgbClr val="71809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Bank Customer Churn Analysis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928558" y="4360590"/>
            <a:ext cx="119062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96"/>
              </a:lnSpc>
              <a:buNone/>
            </a:pPr>
            <a:r>
              <a:rPr lang="en-US" sz="800" b="1" dirty="0">
                <a:solidFill>
                  <a:srgbClr val="2D374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</a:t>
            </a:r>
            <a:endParaRPr lang="en-US" sz="800" dirty="0"/>
          </a:p>
        </p:txBody>
      </p:sp>
      <p:pic>
        <p:nvPicPr>
          <p:cNvPr id="3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7719" y="3328243"/>
            <a:ext cx="3062287" cy="423862"/>
          </a:xfrm>
          <a:prstGeom prst="rect">
            <a:avLst/>
          </a:prstGeom>
        </p:spPr>
      </p:pic>
      <p:pic>
        <p:nvPicPr>
          <p:cNvPr id="3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7719" y="4244876"/>
            <a:ext cx="6948488" cy="28098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0" y="-771525"/>
            <a:ext cx="4114800" cy="4114800"/>
          </a:xfrm>
          <a:prstGeom prst="ellipse">
            <a:avLst/>
          </a:prstGeom>
          <a:solidFill>
            <a:srgbClr val="F4E8C1"/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2457450"/>
            <a:ext cx="3200400" cy="3200400"/>
          </a:xfrm>
          <a:prstGeom prst="ellipse">
            <a:avLst/>
          </a:prstGeom>
          <a:solidFill>
            <a:srgbClr val="AED9E0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65" y="3200400"/>
            <a:ext cx="914400" cy="914400"/>
          </a:xfrm>
          <a:prstGeom prst="ellipse">
            <a:avLst/>
          </a:prstGeom>
          <a:solidFill>
            <a:srgbClr val="C8B6FF"/>
          </a:solidFill>
          <a:ln/>
        </p:spPr>
      </p:sp>
      <p:sp>
        <p:nvSpPr>
          <p:cNvPr id="6" name="Shape 4"/>
          <p:cNvSpPr/>
          <p:nvPr/>
        </p:nvSpPr>
        <p:spPr>
          <a:xfrm>
            <a:off x="731007" y="411882"/>
            <a:ext cx="7681912" cy="4319588"/>
          </a:xfrm>
          <a:prstGeom prst="roundRect">
            <a:avLst>
              <a:gd name="adj" fmla="val 896"/>
            </a:avLst>
          </a:prstGeom>
          <a:solidFill>
            <a:srgbClr val="FFFFFF">
              <a:alpha val="4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96268" y="616148"/>
            <a:ext cx="276225" cy="276225"/>
          </a:xfrm>
          <a:prstGeom prst="roundRect">
            <a:avLst>
              <a:gd name="adj" fmla="val 21917"/>
            </a:avLst>
          </a:prstGeom>
          <a:solidFill>
            <a:srgbClr val="2D3748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2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462646" y="651867"/>
            <a:ext cx="776287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000" b="1" dirty="0">
                <a:solidFill>
                  <a:srgbClr val="2D374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ds.portfolio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004149" y="644686"/>
            <a:ext cx="1042988" cy="219075"/>
          </a:xfrm>
          <a:prstGeom prst="roundRect">
            <a:avLst>
              <a:gd name="adj" fmla="val 52174"/>
            </a:avLst>
          </a:prstGeom>
          <a:solidFill>
            <a:srgbClr val="FFBCA6"/>
          </a:solidFill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00" b="1" dirty="0">
                <a:solidFill>
                  <a:srgbClr val="2D374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Threshold Tuning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097235" y="1045815"/>
            <a:ext cx="5943600" cy="6524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70"/>
              </a:lnSpc>
              <a:spcAft>
                <a:spcPts val="810"/>
              </a:spcAft>
              <a:buNone/>
            </a:pPr>
            <a:r>
              <a:rPr lang="en-US" sz="2400" b="1" dirty="0">
                <a:solidFill>
                  <a:srgbClr val="1A20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Lower the threshold from 0.50 → 0.34 and recall nearly doubles.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097235" y="1800895"/>
            <a:ext cx="5943600" cy="3571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4"/>
              </a:lnSpc>
              <a:spcAft>
                <a:spcPts val="1620"/>
              </a:spcAft>
              <a:buNone/>
            </a:pPr>
            <a:r>
              <a:rPr lang="en-US" sz="9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Precision-recall analysis revealed a sweet spot where every other flagged customer is a real churn risk — economically viable for an outreach campaign.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097533" y="2362498"/>
            <a:ext cx="1895475" cy="1985963"/>
          </a:xfrm>
          <a:prstGeom prst="roundRect">
            <a:avLst>
              <a:gd name="adj" fmla="val 3491"/>
            </a:avLst>
          </a:prstGeom>
          <a:solidFill>
            <a:srgbClr val="FFFFFF"/>
          </a:solidFill>
          <a:ln/>
          <a:effectLst>
            <a:outerShdw blurRad="182880" dist="9144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324831" y="2687241"/>
            <a:ext cx="652463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8"/>
              </a:lnSpc>
              <a:buNone/>
            </a:pPr>
            <a:r>
              <a:rPr lang="en-US" sz="700" dirty="0">
                <a:solidFill>
                  <a:srgbClr val="71809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THRESHOLD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2250207" y="2591991"/>
            <a:ext cx="514350" cy="3429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A0AEC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0.50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26133" y="3107010"/>
            <a:ext cx="1438275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96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Precision</a:t>
            </a:r>
            <a:r>
              <a:rPr lang="en-US" sz="1000" b="1" dirty="0">
                <a:solidFill>
                  <a:srgbClr val="1A20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0.611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326133" y="3360688"/>
            <a:ext cx="1438275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96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Recall</a:t>
            </a:r>
            <a:r>
              <a:rPr lang="en-US" sz="1000" b="1" dirty="0">
                <a:solidFill>
                  <a:srgbClr val="C855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0.215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326133" y="3614365"/>
            <a:ext cx="1438275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96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F1</a:t>
            </a:r>
            <a:r>
              <a:rPr lang="en-US" sz="1000" b="1" dirty="0">
                <a:solidFill>
                  <a:srgbClr val="1A20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0.318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326133" y="3875150"/>
            <a:ext cx="1438275" cy="2428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00" i="1" dirty="0">
                <a:solidFill>
                  <a:srgbClr val="71809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Misses ~79% of churners.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3323444" y="3150654"/>
            <a:ext cx="228600" cy="4095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40"/>
              </a:lnSpc>
              <a:buNone/>
            </a:pPr>
            <a:r>
              <a:rPr lang="en-US" sz="2100" b="1" dirty="0">
                <a:solidFill>
                  <a:srgbClr val="FFBCA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3882479" y="2362498"/>
            <a:ext cx="1895475" cy="1985963"/>
          </a:xfrm>
          <a:prstGeom prst="roundRect">
            <a:avLst>
              <a:gd name="adj" fmla="val 3491"/>
            </a:avLst>
          </a:prstGeom>
          <a:solidFill>
            <a:srgbClr val="2D3748"/>
          </a:solidFill>
          <a:ln/>
          <a:effectLst>
            <a:outerShdw blurRad="274320" dist="13716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111526" y="2687241"/>
            <a:ext cx="361950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8"/>
              </a:lnSpc>
              <a:buNone/>
            </a:pPr>
            <a:r>
              <a:rPr lang="en-US" sz="700" dirty="0">
                <a:solidFill>
                  <a:srgbClr val="AED9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TUNED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5050073" y="2591991"/>
            <a:ext cx="500063" cy="3429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FFBCA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0.34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111079" y="3038475"/>
            <a:ext cx="1438275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96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Precision</a:t>
            </a:r>
            <a:r>
              <a:rPr lang="en-US" sz="10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0.520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111079" y="3292153"/>
            <a:ext cx="1438275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96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Recall</a:t>
            </a:r>
            <a:r>
              <a:rPr lang="en-US" sz="1000" b="1" dirty="0">
                <a:solidFill>
                  <a:srgbClr val="AED9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0.418 ↑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111079" y="3545830"/>
            <a:ext cx="1438275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96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F1</a:t>
            </a:r>
            <a:r>
              <a:rPr lang="en-US" sz="10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0.463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111079" y="3737521"/>
            <a:ext cx="1438275" cy="3810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00" i="1" dirty="0">
                <a:solidFill>
                  <a:srgbClr val="AED9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Catches ~42% of churners — campaign-viable.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6007633" y="2362498"/>
            <a:ext cx="2038350" cy="1985963"/>
          </a:xfrm>
          <a:prstGeom prst="roundRect">
            <a:avLst>
              <a:gd name="adj" fmla="val 3180"/>
            </a:avLst>
          </a:prstGeom>
          <a:solidFill>
            <a:srgbClr val="FFBCA6"/>
          </a:solidFill>
          <a:ln/>
        </p:spPr>
      </p:sp>
      <p:sp>
        <p:nvSpPr>
          <p:cNvPr id="28" name="Text 26"/>
          <p:cNvSpPr/>
          <p:nvPr/>
        </p:nvSpPr>
        <p:spPr>
          <a:xfrm>
            <a:off x="6236233" y="2977455"/>
            <a:ext cx="1581150" cy="1285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6"/>
              </a:lnSpc>
              <a:spcAft>
                <a:spcPts val="405"/>
              </a:spcAft>
              <a:buNone/>
            </a:pPr>
            <a:r>
              <a:rPr lang="en-US" sz="600" b="1" dirty="0">
                <a:solidFill>
                  <a:srgbClr val="7B341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TRADE-OFF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6236233" y="3158133"/>
            <a:ext cx="1581150" cy="57626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2"/>
              </a:lnSpc>
              <a:buNone/>
            </a:pPr>
            <a:r>
              <a:rPr lang="en-US" sz="1000" b="1" dirty="0">
                <a:solidFill>
                  <a:srgbClr val="1A20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Recall +95%, precision −15% — for retention, that's a clear win.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097719" y="4347939"/>
            <a:ext cx="6948488" cy="280987"/>
          </a:xfrm>
          <a:prstGeom prst="rect">
            <a:avLst/>
          </a:prstGeom>
          <a:ln/>
        </p:spPr>
      </p:sp>
      <p:sp>
        <p:nvSpPr>
          <p:cNvPr id="31" name="Text 29"/>
          <p:cNvSpPr/>
          <p:nvPr/>
        </p:nvSpPr>
        <p:spPr>
          <a:xfrm>
            <a:off x="1097235" y="4463653"/>
            <a:ext cx="1585913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96"/>
              </a:lnSpc>
              <a:buNone/>
            </a:pPr>
            <a:r>
              <a:rPr lang="en-US" sz="800" dirty="0">
                <a:solidFill>
                  <a:srgbClr val="71809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Bank Customer Churn Analysis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966249" y="4463653"/>
            <a:ext cx="80962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96"/>
              </a:lnSpc>
              <a:buNone/>
            </a:pPr>
            <a:r>
              <a:rPr lang="en-US" sz="800" b="1" dirty="0">
                <a:solidFill>
                  <a:srgbClr val="2D374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11</a:t>
            </a:r>
            <a:endParaRPr lang="en-US" sz="800" dirty="0"/>
          </a:p>
        </p:txBody>
      </p:sp>
      <p:pic>
        <p:nvPicPr>
          <p:cNvPr id="3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26133" y="3875150"/>
            <a:ext cx="1438275" cy="242888"/>
          </a:xfrm>
          <a:prstGeom prst="rect">
            <a:avLst/>
          </a:prstGeom>
        </p:spPr>
      </p:pic>
      <p:pic>
        <p:nvPicPr>
          <p:cNvPr id="3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11079" y="3737521"/>
            <a:ext cx="1438275" cy="381000"/>
          </a:xfrm>
          <a:prstGeom prst="rect">
            <a:avLst/>
          </a:prstGeom>
        </p:spPr>
      </p:pic>
      <p:pic>
        <p:nvPicPr>
          <p:cNvPr id="3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97719" y="4347939"/>
            <a:ext cx="6948488" cy="28098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0" y="-771525"/>
            <a:ext cx="4114800" cy="4114800"/>
          </a:xfrm>
          <a:prstGeom prst="ellipse">
            <a:avLst/>
          </a:prstGeom>
          <a:solidFill>
            <a:srgbClr val="F4E8C1"/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2457450"/>
            <a:ext cx="3200400" cy="3200400"/>
          </a:xfrm>
          <a:prstGeom prst="ellipse">
            <a:avLst/>
          </a:prstGeom>
          <a:solidFill>
            <a:srgbClr val="AED9E0"/>
          </a:solidFill>
          <a:ln/>
        </p:spPr>
      </p:sp>
      <p:sp>
        <p:nvSpPr>
          <p:cNvPr id="5" name="Shape 3"/>
          <p:cNvSpPr/>
          <p:nvPr/>
        </p:nvSpPr>
        <p:spPr>
          <a:xfrm rot="900000">
            <a:off x="5028233" y="1028216"/>
            <a:ext cx="733425" cy="2195513"/>
          </a:xfrm>
          <a:prstGeom prst="roundRect">
            <a:avLst>
              <a:gd name="adj" fmla="val 62176"/>
            </a:avLst>
          </a:prstGeom>
          <a:solidFill>
            <a:srgbClr val="FFBCA6"/>
          </a:solidFill>
          <a:ln/>
        </p:spPr>
      </p:sp>
      <p:sp>
        <p:nvSpPr>
          <p:cNvPr id="6" name="Shape 4"/>
          <p:cNvSpPr/>
          <p:nvPr/>
        </p:nvSpPr>
        <p:spPr>
          <a:xfrm>
            <a:off x="8046281" y="2056916"/>
            <a:ext cx="366712" cy="366712"/>
          </a:xfrm>
          <a:prstGeom prst="ellipse">
            <a:avLst/>
          </a:prstGeom>
          <a:solidFill>
            <a:srgbClr val="AED9E0"/>
          </a:solidFill>
          <a:ln/>
        </p:spPr>
      </p:sp>
      <p:sp>
        <p:nvSpPr>
          <p:cNvPr id="7" name="Shape 5"/>
          <p:cNvSpPr/>
          <p:nvPr/>
        </p:nvSpPr>
        <p:spPr>
          <a:xfrm>
            <a:off x="731007" y="411882"/>
            <a:ext cx="7681912" cy="4319588"/>
          </a:xfrm>
          <a:prstGeom prst="roundRect">
            <a:avLst>
              <a:gd name="adj" fmla="val 896"/>
            </a:avLst>
          </a:prstGeom>
          <a:solidFill>
            <a:srgbClr val="FFFFFF">
              <a:alpha val="4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096268" y="616148"/>
            <a:ext cx="276225" cy="276225"/>
          </a:xfrm>
          <a:prstGeom prst="roundRect">
            <a:avLst>
              <a:gd name="adj" fmla="val 21917"/>
            </a:avLst>
          </a:prstGeom>
          <a:solidFill>
            <a:srgbClr val="2D3748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2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462646" y="651867"/>
            <a:ext cx="776287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000" b="1" dirty="0">
                <a:solidFill>
                  <a:srgbClr val="2D374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ds.portfolio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050360" y="644686"/>
            <a:ext cx="995362" cy="219075"/>
          </a:xfrm>
          <a:prstGeom prst="roundRect">
            <a:avLst>
              <a:gd name="adj" fmla="val 52174"/>
            </a:avLst>
          </a:prstGeom>
          <a:solidFill>
            <a:srgbClr val="C8B6FF"/>
          </a:solidFill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00" b="1" dirty="0">
                <a:solidFill>
                  <a:srgbClr val="2D374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Improved Model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096677" y="1142405"/>
            <a:ext cx="1457325" cy="180975"/>
          </a:xfrm>
          <a:prstGeom prst="roundRect">
            <a:avLst>
              <a:gd name="adj" fmla="val 31911"/>
            </a:avLst>
          </a:prstGeom>
          <a:solidFill>
            <a:srgbClr val="E2E8F0"/>
          </a:solidFill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26"/>
              </a:lnSpc>
              <a:spcAft>
                <a:spcPts val="810"/>
              </a:spcAft>
              <a:buNone/>
            </a:pPr>
            <a:r>
              <a:rPr lang="en-US" sz="600" b="1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RANDOM FOREST · TUNED</a:t>
            </a:r>
            <a:endParaRPr lang="en-US" sz="600" dirty="0"/>
          </a:p>
        </p:txBody>
      </p:sp>
      <p:sp>
        <p:nvSpPr>
          <p:cNvPr id="12" name="Text 10"/>
          <p:cNvSpPr/>
          <p:nvPr/>
        </p:nvSpPr>
        <p:spPr>
          <a:xfrm>
            <a:off x="1097719" y="1425327"/>
            <a:ext cx="3062287" cy="9239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19"/>
              </a:lnSpc>
              <a:spcAft>
                <a:spcPts val="810"/>
              </a:spcAft>
              <a:buNone/>
            </a:pPr>
            <a:r>
              <a:rPr lang="en-US" sz="2300" b="1" dirty="0">
                <a:solidFill>
                  <a:srgbClr val="1A20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Tuned RF beats the baseline across the board.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1097719" y="2450902"/>
            <a:ext cx="3062287" cy="6858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Aft>
                <a:spcPts val="1215"/>
              </a:spcAft>
              <a:buNone/>
            </a:pPr>
            <a:r>
              <a:rPr lang="en-US" sz="9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RandomizedSearchCV → GridSearchCV produced </a:t>
            </a:r>
            <a:r>
              <a:rPr lang="en-US" sz="700" dirty="0">
                <a:solidFill>
                  <a:srgbClr val="4A5568"/>
                </a:solidFill>
                <a:highlight>
                  <a:srgbClr val="E2E8F0"/>
                </a:highlight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n_estimators=100, max_depth=10, min_samples_leaf=2</a:t>
            </a:r>
            <a:r>
              <a:rPr lang="en-US" sz="9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 Train→test gap shrunk from a perfect-fit overfit to a healthy 0.878 → 0.855.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097719" y="3290887"/>
            <a:ext cx="1462088" cy="857250"/>
          </a:xfrm>
          <a:prstGeom prst="roundRect">
            <a:avLst>
              <a:gd name="adj" fmla="val 11378"/>
            </a:avLst>
          </a:prstGeom>
          <a:solidFill>
            <a:srgbClr val="AED9E0"/>
          </a:solidFill>
          <a:ln/>
        </p:spPr>
      </p:sp>
      <p:sp>
        <p:nvSpPr>
          <p:cNvPr id="15" name="Text 13"/>
          <p:cNvSpPr/>
          <p:nvPr/>
        </p:nvSpPr>
        <p:spPr>
          <a:xfrm>
            <a:off x="1233450" y="3427921"/>
            <a:ext cx="1190625" cy="123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2"/>
              </a:lnSpc>
              <a:buNone/>
            </a:pPr>
            <a:r>
              <a:rPr lang="en-US" sz="600" dirty="0">
                <a:solidFill>
                  <a:srgbClr val="1A20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VS. LR AUC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1233450" y="3551820"/>
            <a:ext cx="1190625" cy="3286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92"/>
              </a:lnSpc>
              <a:buNone/>
            </a:pPr>
            <a:r>
              <a:rPr lang="en-US" sz="1700" b="1" dirty="0">
                <a:solidFill>
                  <a:srgbClr val="1A20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+0.09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233450" y="3881512"/>
            <a:ext cx="1190625" cy="1285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6"/>
              </a:lnSpc>
              <a:buNone/>
            </a:pPr>
            <a:r>
              <a:rPr lang="en-US" sz="600" dirty="0">
                <a:solidFill>
                  <a:srgbClr val="1A20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0.77 → 0.86</a:t>
            </a:r>
            <a:endParaRPr lang="en-US" sz="600" dirty="0"/>
          </a:p>
        </p:txBody>
      </p:sp>
      <p:sp>
        <p:nvSpPr>
          <p:cNvPr id="18" name="Shape 16"/>
          <p:cNvSpPr/>
          <p:nvPr/>
        </p:nvSpPr>
        <p:spPr>
          <a:xfrm>
            <a:off x="2697919" y="3290887"/>
            <a:ext cx="1462088" cy="857250"/>
          </a:xfrm>
          <a:prstGeom prst="roundRect">
            <a:avLst>
              <a:gd name="adj" fmla="val 11378"/>
            </a:avLst>
          </a:prstGeom>
          <a:solidFill>
            <a:srgbClr val="FFBCA6"/>
          </a:solidFill>
          <a:ln/>
        </p:spPr>
      </p:sp>
      <p:sp>
        <p:nvSpPr>
          <p:cNvPr id="19" name="Text 17"/>
          <p:cNvSpPr/>
          <p:nvPr/>
        </p:nvSpPr>
        <p:spPr>
          <a:xfrm>
            <a:off x="2833650" y="3427921"/>
            <a:ext cx="1190625" cy="123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2"/>
              </a:lnSpc>
              <a:buNone/>
            </a:pPr>
            <a:r>
              <a:rPr lang="en-US" sz="600" dirty="0">
                <a:solidFill>
                  <a:srgbClr val="1A20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RECALL LIFT</a:t>
            </a:r>
            <a:endParaRPr lang="en-US" sz="600" dirty="0"/>
          </a:p>
        </p:txBody>
      </p:sp>
      <p:sp>
        <p:nvSpPr>
          <p:cNvPr id="20" name="Text 18"/>
          <p:cNvSpPr/>
          <p:nvPr/>
        </p:nvSpPr>
        <p:spPr>
          <a:xfrm>
            <a:off x="2833650" y="3551820"/>
            <a:ext cx="1190625" cy="3286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92"/>
              </a:lnSpc>
              <a:buNone/>
            </a:pPr>
            <a:r>
              <a:rPr lang="en-US" sz="1700" b="1" dirty="0">
                <a:solidFill>
                  <a:srgbClr val="1A20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+77%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2833650" y="3881512"/>
            <a:ext cx="1190625" cy="1285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6"/>
              </a:lnSpc>
              <a:buNone/>
            </a:pPr>
            <a:r>
              <a:rPr lang="en-US" sz="600" dirty="0">
                <a:solidFill>
                  <a:srgbClr val="1A20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0.215 → 0.381</a:t>
            </a:r>
            <a:endParaRPr lang="en-US" sz="600" dirty="0"/>
          </a:p>
        </p:txBody>
      </p:sp>
      <p:sp>
        <p:nvSpPr>
          <p:cNvPr id="22" name="Shape 20"/>
          <p:cNvSpPr/>
          <p:nvPr/>
        </p:nvSpPr>
        <p:spPr>
          <a:xfrm>
            <a:off x="4526719" y="1044885"/>
            <a:ext cx="3519487" cy="3200400"/>
          </a:xfrm>
          <a:prstGeom prst="roundRect">
            <a:avLst>
              <a:gd name="adj" fmla="val 1224"/>
            </a:avLst>
          </a:prstGeom>
          <a:solidFill>
            <a:srgbClr val="2D3748"/>
          </a:solidFill>
          <a:ln/>
        </p:spPr>
      </p:sp>
      <p:sp>
        <p:nvSpPr>
          <p:cNvPr id="23" name="Text 21"/>
          <p:cNvSpPr/>
          <p:nvPr/>
        </p:nvSpPr>
        <p:spPr>
          <a:xfrm>
            <a:off x="4755319" y="1273783"/>
            <a:ext cx="3062287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spcAft>
                <a:spcPts val="810"/>
              </a:spcAft>
              <a:buNone/>
            </a:pPr>
            <a:r>
              <a:rPr lang="en-US" sz="700" dirty="0">
                <a:solidFill>
                  <a:srgbClr val="AED9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TUNED RF · TEST METRICS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4755319" y="1515070"/>
            <a:ext cx="3062287" cy="3000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4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Accuracy</a:t>
            </a:r>
            <a:r>
              <a:rPr lang="en-US" sz="15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0.855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55319" y="1908274"/>
            <a:ext cx="3062287" cy="952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4755319" y="2010966"/>
            <a:ext cx="3062287" cy="3000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4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Precision</a:t>
            </a:r>
            <a:r>
              <a:rPr lang="en-US" sz="1500" b="1" dirty="0">
                <a:solidFill>
                  <a:srgbClr val="AED9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0.804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55319" y="2404170"/>
            <a:ext cx="3062287" cy="952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4755319" y="2506861"/>
            <a:ext cx="3062287" cy="3000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4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Recall</a:t>
            </a:r>
            <a:r>
              <a:rPr lang="en-US" sz="15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0.381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55319" y="2900065"/>
            <a:ext cx="3062287" cy="952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4755319" y="3002756"/>
            <a:ext cx="3062287" cy="3000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4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F1 Score</a:t>
            </a:r>
            <a:r>
              <a:rPr lang="en-US" sz="15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0.517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755319" y="3395960"/>
            <a:ext cx="3062287" cy="952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4755319" y="3523543"/>
            <a:ext cx="3062287" cy="452437"/>
          </a:xfrm>
          <a:prstGeom prst="roundRect">
            <a:avLst>
              <a:gd name="adj" fmla="val 8169"/>
            </a:avLst>
          </a:prstGeom>
          <a:solidFill>
            <a:srgbClr val="FFBCA6"/>
          </a:solidFill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04"/>
              </a:lnSpc>
              <a:buNone/>
            </a:pPr>
            <a:r>
              <a:rPr lang="en-US" sz="900" b="1" dirty="0">
                <a:solidFill>
                  <a:srgbClr val="1A20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AUC</a:t>
            </a:r>
            <a:r>
              <a:rPr lang="en-US" sz="1700" b="1" dirty="0">
                <a:solidFill>
                  <a:srgbClr val="1A20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0.86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097719" y="4244876"/>
            <a:ext cx="6948488" cy="280987"/>
          </a:xfrm>
          <a:prstGeom prst="rect">
            <a:avLst/>
          </a:prstGeom>
          <a:ln/>
        </p:spPr>
      </p:sp>
      <p:sp>
        <p:nvSpPr>
          <p:cNvPr id="34" name="Text 32"/>
          <p:cNvSpPr/>
          <p:nvPr/>
        </p:nvSpPr>
        <p:spPr>
          <a:xfrm>
            <a:off x="1097235" y="4360590"/>
            <a:ext cx="1585913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96"/>
              </a:lnSpc>
              <a:buNone/>
            </a:pPr>
            <a:r>
              <a:rPr lang="en-US" sz="800" dirty="0">
                <a:solidFill>
                  <a:srgbClr val="71809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Bank Customer Churn Analysis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942659" y="4360590"/>
            <a:ext cx="104775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96"/>
              </a:lnSpc>
              <a:buNone/>
            </a:pPr>
            <a:r>
              <a:rPr lang="en-US" sz="800" b="1" dirty="0">
                <a:solidFill>
                  <a:srgbClr val="2D374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12</a:t>
            </a:r>
            <a:endParaRPr lang="en-US" sz="800" dirty="0"/>
          </a:p>
        </p:txBody>
      </p:sp>
      <p:pic>
        <p:nvPicPr>
          <p:cNvPr id="3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7719" y="4244876"/>
            <a:ext cx="6948488" cy="28098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0" y="-771525"/>
            <a:ext cx="4114800" cy="4114800"/>
          </a:xfrm>
          <a:prstGeom prst="ellipse">
            <a:avLst/>
          </a:prstGeom>
          <a:solidFill>
            <a:srgbClr val="F4E8C1"/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2457450"/>
            <a:ext cx="3200400" cy="3200400"/>
          </a:xfrm>
          <a:prstGeom prst="ellipse">
            <a:avLst/>
          </a:prstGeom>
          <a:solidFill>
            <a:srgbClr val="AED9E0"/>
          </a:solidFill>
          <a:ln/>
        </p:spPr>
      </p:sp>
      <p:sp>
        <p:nvSpPr>
          <p:cNvPr id="5" name="Shape 3"/>
          <p:cNvSpPr/>
          <p:nvPr/>
        </p:nvSpPr>
        <p:spPr>
          <a:xfrm>
            <a:off x="6218895" y="2761320"/>
            <a:ext cx="1095375" cy="1095375"/>
          </a:xfrm>
          <a:prstGeom prst="ellipse">
            <a:avLst/>
          </a:prstGeom>
          <a:solidFill>
            <a:srgbClr val="C8B6FF"/>
          </a:solidFill>
          <a:ln/>
        </p:spPr>
      </p:sp>
      <p:sp>
        <p:nvSpPr>
          <p:cNvPr id="6" name="Shape 4"/>
          <p:cNvSpPr/>
          <p:nvPr/>
        </p:nvSpPr>
        <p:spPr>
          <a:xfrm>
            <a:off x="731007" y="411882"/>
            <a:ext cx="7681912" cy="4319588"/>
          </a:xfrm>
          <a:prstGeom prst="roundRect">
            <a:avLst>
              <a:gd name="adj" fmla="val 896"/>
            </a:avLst>
          </a:prstGeom>
          <a:solidFill>
            <a:srgbClr val="FFFFFF">
              <a:alpha val="4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96268" y="616148"/>
            <a:ext cx="276225" cy="276225"/>
          </a:xfrm>
          <a:prstGeom prst="roundRect">
            <a:avLst>
              <a:gd name="adj" fmla="val 21917"/>
            </a:avLst>
          </a:prstGeom>
          <a:solidFill>
            <a:srgbClr val="2D3748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2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462646" y="651867"/>
            <a:ext cx="776287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000" b="1" dirty="0">
                <a:solidFill>
                  <a:srgbClr val="2D374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ds.portfolio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83859" y="644686"/>
            <a:ext cx="1162050" cy="219075"/>
          </a:xfrm>
          <a:prstGeom prst="roundRect">
            <a:avLst>
              <a:gd name="adj" fmla="val 52174"/>
            </a:avLst>
          </a:prstGeom>
          <a:solidFill>
            <a:srgbClr val="AED9E0"/>
          </a:solidFill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00" b="1" dirty="0">
                <a:solidFill>
                  <a:srgbClr val="2D374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Feature Importance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097235" y="1045815"/>
            <a:ext cx="5486400" cy="6524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70"/>
              </a:lnSpc>
              <a:spcAft>
                <a:spcPts val="810"/>
              </a:spcAft>
              <a:buNone/>
            </a:pPr>
            <a:r>
              <a:rPr lang="en-US" sz="2400" b="1" dirty="0">
                <a:solidFill>
                  <a:srgbClr val="1A20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Age and product count drive the model.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097235" y="1801267"/>
            <a:ext cx="5943600" cy="3429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Aft>
                <a:spcPts val="1215"/>
              </a:spcAft>
              <a:buNone/>
            </a:pPr>
            <a:r>
              <a:rPr lang="en-US" sz="9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Top 5 features by Random Forest Gini importance — consistent with the EDA which showed older customers and customers with fewer products are more likely to leave.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98166" y="2300325"/>
            <a:ext cx="1095375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404"/>
              </a:lnSpc>
              <a:buNone/>
            </a:pPr>
            <a:r>
              <a:rPr lang="en-US" sz="900" b="1" dirty="0">
                <a:solidFill>
                  <a:srgbClr val="1A20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Age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330723" y="2297943"/>
            <a:ext cx="4848225" cy="180975"/>
          </a:xfrm>
          <a:prstGeom prst="roundRect">
            <a:avLst>
              <a:gd name="adj" fmla="val 51058"/>
            </a:avLst>
          </a:prstGeom>
          <a:solidFill>
            <a:srgbClr val="E2E8F0"/>
          </a:solidFill>
          <a:ln/>
        </p:spPr>
      </p:sp>
      <p:sp>
        <p:nvSpPr>
          <p:cNvPr id="14" name="Text 12"/>
          <p:cNvSpPr/>
          <p:nvPr/>
        </p:nvSpPr>
        <p:spPr>
          <a:xfrm>
            <a:off x="2330723" y="2297943"/>
            <a:ext cx="4848225" cy="180975"/>
          </a:xfrm>
          <a:prstGeom prst="rect">
            <a:avLst/>
          </a:prstGeom>
          <a:solidFill>
            <a:srgbClr val="2D3748"/>
          </a:solidFill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04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0.270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314233" y="2324100"/>
            <a:ext cx="733425" cy="1285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6"/>
              </a:lnSpc>
              <a:buNone/>
            </a:pPr>
            <a:r>
              <a:rPr lang="en-US" sz="600" dirty="0">
                <a:solidFill>
                  <a:srgbClr val="71809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Top driver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1098166" y="2557425"/>
            <a:ext cx="1095375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404"/>
              </a:lnSpc>
              <a:buNone/>
            </a:pPr>
            <a:r>
              <a:rPr lang="en-US" sz="900" b="1" dirty="0">
                <a:solidFill>
                  <a:srgbClr val="1A20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NumOfProducts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330723" y="2555044"/>
            <a:ext cx="4848225" cy="180975"/>
          </a:xfrm>
          <a:prstGeom prst="roundRect">
            <a:avLst>
              <a:gd name="adj" fmla="val 51058"/>
            </a:avLst>
          </a:prstGeom>
          <a:solidFill>
            <a:srgbClr val="E2E8F0"/>
          </a:solidFill>
          <a:ln/>
        </p:spPr>
      </p:sp>
      <p:sp>
        <p:nvSpPr>
          <p:cNvPr id="18" name="Text 16"/>
          <p:cNvSpPr/>
          <p:nvPr/>
        </p:nvSpPr>
        <p:spPr>
          <a:xfrm>
            <a:off x="2332137" y="2555044"/>
            <a:ext cx="2809875" cy="180975"/>
          </a:xfrm>
          <a:prstGeom prst="rect">
            <a:avLst/>
          </a:prstGeom>
          <a:solidFill>
            <a:srgbClr val="FFBCA6"/>
          </a:solidFill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04"/>
              </a:lnSpc>
              <a:buNone/>
            </a:pPr>
            <a:r>
              <a:rPr lang="en-US" sz="900" b="1" dirty="0">
                <a:solidFill>
                  <a:srgbClr val="1A20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0.157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314233" y="2581201"/>
            <a:ext cx="733425" cy="1285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6"/>
              </a:lnSpc>
              <a:buNone/>
            </a:pPr>
            <a:r>
              <a:rPr lang="en-US" sz="600" dirty="0">
                <a:solidFill>
                  <a:srgbClr val="71809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Behavioural</a:t>
            </a:r>
            <a:endParaRPr lang="en-US" sz="600" dirty="0"/>
          </a:p>
        </p:txBody>
      </p:sp>
      <p:sp>
        <p:nvSpPr>
          <p:cNvPr id="20" name="Text 18"/>
          <p:cNvSpPr/>
          <p:nvPr/>
        </p:nvSpPr>
        <p:spPr>
          <a:xfrm>
            <a:off x="1098166" y="2886708"/>
            <a:ext cx="1095375" cy="19496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296"/>
              </a:lnSpc>
              <a:buNone/>
            </a:pPr>
            <a:r>
              <a:rPr lang="en-US" sz="800" b="1" i="1" dirty="0" err="1">
                <a:solidFill>
                  <a:srgbClr val="1A20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income_v_product</a:t>
            </a:r>
            <a:r>
              <a:rPr lang="en-US" sz="800" b="1" i="1" dirty="0">
                <a:solidFill>
                  <a:srgbClr val="1A20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330723" y="2886708"/>
            <a:ext cx="4848225" cy="180975"/>
          </a:xfrm>
          <a:prstGeom prst="roundRect">
            <a:avLst>
              <a:gd name="adj" fmla="val 51058"/>
            </a:avLst>
          </a:prstGeom>
          <a:solidFill>
            <a:srgbClr val="E2E8F0"/>
          </a:solidFill>
          <a:ln/>
        </p:spPr>
      </p:sp>
      <p:sp>
        <p:nvSpPr>
          <p:cNvPr id="22" name="Text 20"/>
          <p:cNvSpPr/>
          <p:nvPr/>
        </p:nvSpPr>
        <p:spPr>
          <a:xfrm>
            <a:off x="2331169" y="2886708"/>
            <a:ext cx="1600200" cy="180975"/>
          </a:xfrm>
          <a:prstGeom prst="rect">
            <a:avLst/>
          </a:prstGeom>
          <a:solidFill>
            <a:srgbClr val="C8B6FF"/>
          </a:solidFill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04"/>
              </a:lnSpc>
              <a:buNone/>
            </a:pPr>
            <a:r>
              <a:rPr lang="en-US" sz="900" b="1" dirty="0">
                <a:solidFill>
                  <a:srgbClr val="1A20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0.088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314233" y="2912938"/>
            <a:ext cx="733425" cy="1285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6"/>
              </a:lnSpc>
              <a:buNone/>
            </a:pPr>
            <a:r>
              <a:rPr lang="en-US" sz="600" b="1" dirty="0">
                <a:solidFill>
                  <a:srgbClr val="1A20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Engineered</a:t>
            </a:r>
            <a:endParaRPr lang="en-US" sz="600" dirty="0"/>
          </a:p>
        </p:txBody>
      </p:sp>
      <p:sp>
        <p:nvSpPr>
          <p:cNvPr id="24" name="Text 22"/>
          <p:cNvSpPr/>
          <p:nvPr/>
        </p:nvSpPr>
        <p:spPr>
          <a:xfrm>
            <a:off x="1098166" y="3220827"/>
            <a:ext cx="1095375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404"/>
              </a:lnSpc>
              <a:buNone/>
            </a:pPr>
            <a:r>
              <a:rPr lang="en-US" sz="900" b="1" dirty="0">
                <a:solidFill>
                  <a:srgbClr val="1A20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CreditScore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330723" y="3218445"/>
            <a:ext cx="4848225" cy="180975"/>
          </a:xfrm>
          <a:prstGeom prst="roundRect">
            <a:avLst>
              <a:gd name="adj" fmla="val 51058"/>
            </a:avLst>
          </a:prstGeom>
          <a:solidFill>
            <a:srgbClr val="E2E8F0"/>
          </a:solidFill>
          <a:ln/>
        </p:spPr>
      </p:sp>
      <p:sp>
        <p:nvSpPr>
          <p:cNvPr id="26" name="Text 24"/>
          <p:cNvSpPr/>
          <p:nvPr/>
        </p:nvSpPr>
        <p:spPr>
          <a:xfrm>
            <a:off x="2330723" y="3218445"/>
            <a:ext cx="1552575" cy="180975"/>
          </a:xfrm>
          <a:prstGeom prst="rect">
            <a:avLst/>
          </a:prstGeom>
          <a:solidFill>
            <a:srgbClr val="AED9E0"/>
          </a:solidFill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04"/>
              </a:lnSpc>
              <a:buNone/>
            </a:pPr>
            <a:r>
              <a:rPr lang="en-US" sz="900" b="1" dirty="0">
                <a:solidFill>
                  <a:srgbClr val="1A20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0.087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314233" y="3244602"/>
            <a:ext cx="733425" cy="1285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6"/>
              </a:lnSpc>
              <a:buNone/>
            </a:pPr>
            <a:r>
              <a:rPr lang="en-US" sz="600" dirty="0">
                <a:solidFill>
                  <a:srgbClr val="71809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Demographic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1098166" y="3477927"/>
            <a:ext cx="1095375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404"/>
              </a:lnSpc>
              <a:buNone/>
            </a:pPr>
            <a:r>
              <a:rPr lang="en-US" sz="900" b="1" dirty="0">
                <a:solidFill>
                  <a:srgbClr val="1A20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EstimatedSalary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330723" y="3475546"/>
            <a:ext cx="4848225" cy="180975"/>
          </a:xfrm>
          <a:prstGeom prst="roundRect">
            <a:avLst>
              <a:gd name="adj" fmla="val 51058"/>
            </a:avLst>
          </a:prstGeom>
          <a:solidFill>
            <a:srgbClr val="E2E8F0"/>
          </a:solidFill>
          <a:ln/>
        </p:spPr>
      </p:sp>
      <p:sp>
        <p:nvSpPr>
          <p:cNvPr id="30" name="Text 28"/>
          <p:cNvSpPr/>
          <p:nvPr/>
        </p:nvSpPr>
        <p:spPr>
          <a:xfrm>
            <a:off x="2331430" y="3475546"/>
            <a:ext cx="1357313" cy="180975"/>
          </a:xfrm>
          <a:prstGeom prst="rect">
            <a:avLst/>
          </a:prstGeom>
          <a:solidFill>
            <a:srgbClr val="F4E8C1"/>
          </a:solidFill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04"/>
              </a:lnSpc>
              <a:buNone/>
            </a:pPr>
            <a:r>
              <a:rPr lang="en-US" sz="900" b="1" dirty="0">
                <a:solidFill>
                  <a:srgbClr val="1A20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0.076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314233" y="3501703"/>
            <a:ext cx="733425" cy="1285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6"/>
              </a:lnSpc>
              <a:buNone/>
            </a:pPr>
            <a:r>
              <a:rPr lang="en-US" sz="600" dirty="0">
                <a:solidFill>
                  <a:srgbClr val="71809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Demographic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1097719" y="3962921"/>
            <a:ext cx="6948488" cy="280987"/>
          </a:xfrm>
          <a:prstGeom prst="roundRect">
            <a:avLst>
              <a:gd name="adj" fmla="val 21180"/>
            </a:avLst>
          </a:prstGeom>
          <a:solidFill>
            <a:srgbClr val="2D3748">
              <a:alpha val="6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08"/>
              </a:lnSpc>
              <a:spcBef>
                <a:spcPts val="810"/>
              </a:spcBef>
              <a:buNone/>
            </a:pPr>
            <a:r>
              <a:rPr lang="en-US" sz="700" i="1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⚠ Gini importance favours high-cardinality continuous features. For stakeholder communication, switch to permutation importance or SHAP values.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1097719" y="4244876"/>
            <a:ext cx="6948488" cy="280987"/>
          </a:xfrm>
          <a:prstGeom prst="rect">
            <a:avLst/>
          </a:prstGeom>
          <a:ln/>
        </p:spPr>
      </p:sp>
      <p:sp>
        <p:nvSpPr>
          <p:cNvPr id="34" name="Text 32"/>
          <p:cNvSpPr/>
          <p:nvPr/>
        </p:nvSpPr>
        <p:spPr>
          <a:xfrm>
            <a:off x="1097235" y="4360590"/>
            <a:ext cx="1585913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96"/>
              </a:lnSpc>
              <a:buNone/>
            </a:pPr>
            <a:r>
              <a:rPr lang="en-US" sz="800" dirty="0">
                <a:solidFill>
                  <a:srgbClr val="71809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Bank Customer Churn Analysis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941246" y="4360590"/>
            <a:ext cx="104775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96"/>
              </a:lnSpc>
              <a:buNone/>
            </a:pPr>
            <a:r>
              <a:rPr lang="en-US" sz="800" b="1" dirty="0">
                <a:solidFill>
                  <a:srgbClr val="2D374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13</a:t>
            </a:r>
            <a:endParaRPr lang="en-US" sz="800" dirty="0"/>
          </a:p>
        </p:txBody>
      </p:sp>
      <p:pic>
        <p:nvPicPr>
          <p:cNvPr id="3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7719" y="4244876"/>
            <a:ext cx="6948488" cy="28098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0" y="-771525"/>
            <a:ext cx="4114800" cy="4114800"/>
          </a:xfrm>
          <a:prstGeom prst="ellipse">
            <a:avLst/>
          </a:prstGeom>
          <a:solidFill>
            <a:srgbClr val="F4E8C1"/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2457450"/>
            <a:ext cx="3200400" cy="3200400"/>
          </a:xfrm>
          <a:prstGeom prst="ellipse">
            <a:avLst/>
          </a:prstGeom>
          <a:solidFill>
            <a:srgbClr val="AED9E0"/>
          </a:solidFill>
          <a:ln/>
        </p:spPr>
      </p:sp>
      <p:sp>
        <p:nvSpPr>
          <p:cNvPr id="5" name="Shape 3"/>
          <p:cNvSpPr/>
          <p:nvPr/>
        </p:nvSpPr>
        <p:spPr>
          <a:xfrm rot="900000">
            <a:off x="5028233" y="1028216"/>
            <a:ext cx="733425" cy="2195513"/>
          </a:xfrm>
          <a:prstGeom prst="roundRect">
            <a:avLst>
              <a:gd name="adj" fmla="val 62176"/>
            </a:avLst>
          </a:prstGeom>
          <a:solidFill>
            <a:srgbClr val="FFBCA6"/>
          </a:solidFill>
          <a:ln/>
        </p:spPr>
      </p:sp>
      <p:sp>
        <p:nvSpPr>
          <p:cNvPr id="6" name="Shape 4"/>
          <p:cNvSpPr/>
          <p:nvPr/>
        </p:nvSpPr>
        <p:spPr>
          <a:xfrm>
            <a:off x="731007" y="411882"/>
            <a:ext cx="7681912" cy="4319588"/>
          </a:xfrm>
          <a:prstGeom prst="roundRect">
            <a:avLst>
              <a:gd name="adj" fmla="val 896"/>
            </a:avLst>
          </a:prstGeom>
          <a:solidFill>
            <a:srgbClr val="FFFFFF">
              <a:alpha val="4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96268" y="616148"/>
            <a:ext cx="276225" cy="276225"/>
          </a:xfrm>
          <a:prstGeom prst="roundRect">
            <a:avLst>
              <a:gd name="adj" fmla="val 21917"/>
            </a:avLst>
          </a:prstGeom>
          <a:solidFill>
            <a:srgbClr val="2D3748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2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462646" y="651867"/>
            <a:ext cx="776287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000" b="1" dirty="0">
                <a:solidFill>
                  <a:srgbClr val="2D374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ds.portfolio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679146" y="644686"/>
            <a:ext cx="1366837" cy="219075"/>
          </a:xfrm>
          <a:prstGeom prst="roundRect">
            <a:avLst>
              <a:gd name="adj" fmla="val 52174"/>
            </a:avLst>
          </a:prstGeom>
          <a:solidFill>
            <a:srgbClr val="C8B6FF"/>
          </a:solidFill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00" b="1" dirty="0">
                <a:solidFill>
                  <a:srgbClr val="2D374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Segmentation Approach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097235" y="994395"/>
            <a:ext cx="5943600" cy="6524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70"/>
              </a:lnSpc>
              <a:spcAft>
                <a:spcPts val="810"/>
              </a:spcAft>
              <a:buNone/>
            </a:pPr>
            <a:r>
              <a:rPr lang="en-US" sz="2400" b="1" dirty="0">
                <a:solidFill>
                  <a:srgbClr val="1A20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Geography hijacked Round 1. So we dropped it.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097235" y="1749475"/>
            <a:ext cx="6400800" cy="3571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4"/>
              </a:lnSpc>
              <a:spcAft>
                <a:spcPts val="1620"/>
              </a:spcAft>
              <a:buNone/>
            </a:pPr>
            <a:r>
              <a:rPr lang="en-US" sz="9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With geography in the feature set, 4 of 5 K-Means clusters were defined by country, not behaviour. Removing it surfaced the patterns the bank can actually act on.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096789" y="2311450"/>
            <a:ext cx="3352800" cy="1933575"/>
          </a:xfrm>
          <a:prstGeom prst="roundRect">
            <a:avLst>
              <a:gd name="adj" fmla="val 3355"/>
            </a:avLst>
          </a:prstGeom>
          <a:solidFill>
            <a:srgbClr val="FFFFFF"/>
          </a:solidFill>
          <a:ln w="14288">
            <a:solidFill>
              <a:srgbClr val="FED7D7"/>
            </a:solidFill>
            <a:prstDash val="solid"/>
          </a:ln>
          <a:effectLst>
            <a:outerShdw blurRad="182880" dist="9144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340569" y="2555304"/>
            <a:ext cx="319088" cy="319088"/>
          </a:xfrm>
          <a:prstGeom prst="ellipse">
            <a:avLst/>
          </a:prstGeom>
          <a:solidFill>
            <a:srgbClr val="FED7D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728"/>
              </a:lnSpc>
              <a:buNone/>
            </a:pPr>
            <a:r>
              <a:rPr lang="en-US" sz="1100" b="1" dirty="0">
                <a:solidFill>
                  <a:srgbClr val="C855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750777" y="2605274"/>
            <a:ext cx="981075" cy="2190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28"/>
              </a:lnSpc>
              <a:buNone/>
            </a:pPr>
            <a:r>
              <a:rPr lang="en-US" sz="1100" b="1" dirty="0">
                <a:solidFill>
                  <a:srgbClr val="1A20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Round 1 · k = 5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339676" y="2952452"/>
            <a:ext cx="2867025" cy="3143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42"/>
              </a:lnSpc>
              <a:spcAft>
                <a:spcPts val="607"/>
              </a:spcAft>
              <a:buNone/>
            </a:pPr>
            <a:r>
              <a:rPr lang="en-US" sz="8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Included Geography one-hot features. Result: clusters tracked national borders.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339676" y="3710694"/>
            <a:ext cx="2867025" cy="290513"/>
          </a:xfrm>
          <a:prstGeom prst="roundRect">
            <a:avLst>
              <a:gd name="adj" fmla="val 19814"/>
            </a:avLst>
          </a:prstGeom>
          <a:solidFill>
            <a:srgbClr val="FFF5F5"/>
          </a:solidFill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80"/>
              </a:lnSpc>
              <a:spcBef>
                <a:spcPts val="2881"/>
              </a:spcBef>
              <a:buNone/>
            </a:pPr>
            <a:r>
              <a:rPr lang="en-US" sz="700" b="1" dirty="0">
                <a:solidFill>
                  <a:srgbClr val="C855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✗ 4 of 5 clusters geography-defined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4722986" y="2311450"/>
            <a:ext cx="3324225" cy="1933575"/>
          </a:xfrm>
          <a:prstGeom prst="roundRect">
            <a:avLst>
              <a:gd name="adj" fmla="val 3355"/>
            </a:avLst>
          </a:prstGeom>
          <a:solidFill>
            <a:srgbClr val="2D3748"/>
          </a:solidFill>
          <a:ln/>
          <a:effectLst>
            <a:outerShdw blurRad="274320" dist="13716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52479" y="2541017"/>
            <a:ext cx="319088" cy="319088"/>
          </a:xfrm>
          <a:prstGeom prst="ellipse">
            <a:avLst/>
          </a:prstGeom>
          <a:solidFill>
            <a:srgbClr val="AED9E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728"/>
              </a:lnSpc>
              <a:buNone/>
            </a:pPr>
            <a:r>
              <a:rPr lang="en-US" sz="1100" b="1" dirty="0">
                <a:solidFill>
                  <a:srgbClr val="1A20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363654" y="2590986"/>
            <a:ext cx="1014413" cy="2190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28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Round 2 · k = 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51586" y="2938165"/>
            <a:ext cx="2867025" cy="3143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42"/>
              </a:lnSpc>
              <a:spcAft>
                <a:spcPts val="607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Behavioural features only — Balance, Tenure, Products, Activity, Card. Validated with elbow + silhouette.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951586" y="3587353"/>
            <a:ext cx="2867025" cy="428625"/>
          </a:xfrm>
          <a:prstGeom prst="roundRect">
            <a:avLst>
              <a:gd name="adj" fmla="val 9102"/>
            </a:avLst>
          </a:prstGeom>
          <a:solidFill>
            <a:srgbClr val="AED9E0">
              <a:alpha val="20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80"/>
              </a:lnSpc>
              <a:spcBef>
                <a:spcPts val="2026"/>
              </a:spcBef>
              <a:buNone/>
            </a:pPr>
            <a:r>
              <a:rPr lang="en-US" sz="700" b="1" dirty="0">
                <a:solidFill>
                  <a:srgbClr val="AED9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 4 distinct behavioural segments — 11pp churn gap top-to-bottom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1097719" y="4244876"/>
            <a:ext cx="6948488" cy="280987"/>
          </a:xfrm>
          <a:prstGeom prst="rect">
            <a:avLst/>
          </a:prstGeom>
          <a:ln/>
        </p:spPr>
      </p:sp>
      <p:sp>
        <p:nvSpPr>
          <p:cNvPr id="23" name="Text 21"/>
          <p:cNvSpPr/>
          <p:nvPr/>
        </p:nvSpPr>
        <p:spPr>
          <a:xfrm>
            <a:off x="1097235" y="4360590"/>
            <a:ext cx="1585913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96"/>
              </a:lnSpc>
              <a:buNone/>
            </a:pPr>
            <a:r>
              <a:rPr lang="en-US" sz="800" dirty="0">
                <a:solidFill>
                  <a:srgbClr val="71809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Bank Customer Churn Analysis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936297" y="4360590"/>
            <a:ext cx="109537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96"/>
              </a:lnSpc>
              <a:buNone/>
            </a:pPr>
            <a:r>
              <a:rPr lang="en-US" sz="800" b="1" dirty="0">
                <a:solidFill>
                  <a:srgbClr val="2D374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14</a:t>
            </a:r>
            <a:endParaRPr lang="en-US" sz="800" dirty="0"/>
          </a:p>
        </p:txBody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7719" y="4244876"/>
            <a:ext cx="6948488" cy="28098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0" y="-771525"/>
            <a:ext cx="4114800" cy="4114800"/>
          </a:xfrm>
          <a:prstGeom prst="ellipse">
            <a:avLst/>
          </a:prstGeom>
          <a:solidFill>
            <a:srgbClr val="F4E8C1"/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2457450"/>
            <a:ext cx="3200400" cy="3200400"/>
          </a:xfrm>
          <a:prstGeom prst="ellipse">
            <a:avLst/>
          </a:prstGeom>
          <a:solidFill>
            <a:srgbClr val="AED9E0"/>
          </a:solidFill>
          <a:ln/>
        </p:spPr>
      </p:sp>
      <p:sp>
        <p:nvSpPr>
          <p:cNvPr id="5" name="Shape 3"/>
          <p:cNvSpPr/>
          <p:nvPr/>
        </p:nvSpPr>
        <p:spPr>
          <a:xfrm>
            <a:off x="547613" y="309525"/>
            <a:ext cx="8048625" cy="4524375"/>
          </a:xfrm>
          <a:prstGeom prst="roundRect">
            <a:avLst>
              <a:gd name="adj" fmla="val 817"/>
            </a:avLst>
          </a:prstGeom>
          <a:solidFill>
            <a:srgbClr val="FFFFFF">
              <a:alpha val="4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867594" y="487635"/>
            <a:ext cx="276225" cy="276225"/>
          </a:xfrm>
          <a:prstGeom prst="roundRect">
            <a:avLst>
              <a:gd name="adj" fmla="val 21917"/>
            </a:avLst>
          </a:prstGeom>
          <a:solidFill>
            <a:srgbClr val="2D3748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2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233971" y="523354"/>
            <a:ext cx="776287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000" b="1" dirty="0">
                <a:solidFill>
                  <a:srgbClr val="2D374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ds.portfolio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145796" y="516173"/>
            <a:ext cx="1128713" cy="219075"/>
          </a:xfrm>
          <a:prstGeom prst="roundRect">
            <a:avLst>
              <a:gd name="adj" fmla="val 52174"/>
            </a:avLst>
          </a:prstGeom>
          <a:solidFill>
            <a:srgbClr val="AED9E0"/>
          </a:solidFill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00" b="1" dirty="0">
                <a:solidFill>
                  <a:srgbClr val="2D374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Four Segments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869082" y="866812"/>
            <a:ext cx="7405687" cy="2667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17"/>
              </a:lnSpc>
              <a:spcAft>
                <a:spcPts val="203"/>
              </a:spcAft>
              <a:buNone/>
            </a:pPr>
            <a:r>
              <a:rPr lang="en-US" sz="2000" b="1" dirty="0">
                <a:solidFill>
                  <a:srgbClr val="1A20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 balance does not equal loyalty.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68561" y="1160041"/>
            <a:ext cx="6858000" cy="1476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9"/>
              </a:lnSpc>
              <a:spcAft>
                <a:spcPts val="1013"/>
              </a:spcAft>
              <a:buNone/>
            </a:pPr>
            <a:r>
              <a:rPr lang="en-US" sz="8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biggest churn risk (Cluster 1) holds the second-highest average balance — but zero active members and zero credit card holders.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869045" y="1435522"/>
            <a:ext cx="1747838" cy="2514600"/>
          </a:xfrm>
          <a:prstGeom prst="roundRect">
            <a:avLst>
              <a:gd name="adj" fmla="val 3284"/>
            </a:avLst>
          </a:prstGeom>
          <a:solidFill>
            <a:srgbClr val="FFFFFF"/>
          </a:solidFill>
          <a:ln/>
          <a:effectLst>
            <a:outerShdw blurRad="182880" dist="9144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32681" y="1644179"/>
            <a:ext cx="581025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2"/>
              </a:lnSpc>
              <a:buNone/>
            </a:pPr>
            <a:r>
              <a:rPr lang="en-US" sz="1000" b="1" dirty="0">
                <a:solidFill>
                  <a:srgbClr val="1A20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Cluster 0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133898" y="1685813"/>
            <a:ext cx="319088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00" dirty="0">
                <a:solidFill>
                  <a:srgbClr val="71809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 = 709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1033351" y="1887327"/>
            <a:ext cx="1419225" cy="123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3"/>
              </a:lnSpc>
              <a:spcAft>
                <a:spcPts val="607"/>
              </a:spcAft>
              <a:buNone/>
            </a:pPr>
            <a:r>
              <a:rPr lang="en-US" sz="700" b="1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 Products · Low Tenure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1033351" y="2089547"/>
            <a:ext cx="1419225" cy="1285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6"/>
              </a:lnSpc>
              <a:spcAft>
                <a:spcPts val="162"/>
              </a:spcAft>
              <a:buNone/>
            </a:pPr>
            <a:r>
              <a:rPr lang="en-US" sz="600" dirty="0">
                <a:solidFill>
                  <a:srgbClr val="71809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Churn rate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1033351" y="2239119"/>
            <a:ext cx="1419225" cy="2476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44"/>
              </a:lnSpc>
              <a:spcAft>
                <a:spcPts val="405"/>
              </a:spcAft>
              <a:buNone/>
            </a:pPr>
            <a:r>
              <a:rPr lang="en-US" sz="1200" b="1" dirty="0">
                <a:solidFill>
                  <a:srgbClr val="1A20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21.0%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33351" y="2538636"/>
            <a:ext cx="1419225" cy="1285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6"/>
              </a:lnSpc>
              <a:buNone/>
            </a:pPr>
            <a:r>
              <a:rPr lang="en-US" sz="6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Avg balance: </a:t>
            </a:r>
            <a:r>
              <a:rPr lang="en-US" sz="600" b="1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£56,731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1033351" y="2689399"/>
            <a:ext cx="1419225" cy="1285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6"/>
              </a:lnSpc>
              <a:buNone/>
            </a:pPr>
            <a:r>
              <a:rPr lang="en-US" sz="6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Avg products: </a:t>
            </a:r>
            <a:r>
              <a:rPr lang="en-US" sz="600" b="1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2.19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1033351" y="2840162"/>
            <a:ext cx="1419225" cy="1285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6"/>
              </a:lnSpc>
              <a:buNone/>
            </a:pPr>
            <a:r>
              <a:rPr lang="en-US" sz="6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Active: </a:t>
            </a:r>
            <a:r>
              <a:rPr lang="en-US" sz="600" b="1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53.7%</a:t>
            </a:r>
            <a:endParaRPr lang="en-US" sz="600" dirty="0"/>
          </a:p>
        </p:txBody>
      </p:sp>
      <p:sp>
        <p:nvSpPr>
          <p:cNvPr id="20" name="Text 18"/>
          <p:cNvSpPr/>
          <p:nvPr/>
        </p:nvSpPr>
        <p:spPr>
          <a:xfrm>
            <a:off x="1033351" y="2990924"/>
            <a:ext cx="1419225" cy="1285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6"/>
              </a:lnSpc>
              <a:buNone/>
            </a:pPr>
            <a:r>
              <a:rPr lang="en-US" sz="6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Has card: </a:t>
            </a:r>
            <a:r>
              <a:rPr lang="en-US" sz="600" b="1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53.7%</a:t>
            </a:r>
            <a:endParaRPr lang="en-US" sz="600" dirty="0"/>
          </a:p>
        </p:txBody>
      </p:sp>
      <p:sp>
        <p:nvSpPr>
          <p:cNvPr id="21" name="Shape 19"/>
          <p:cNvSpPr/>
          <p:nvPr/>
        </p:nvSpPr>
        <p:spPr>
          <a:xfrm>
            <a:off x="2754995" y="1435522"/>
            <a:ext cx="1747838" cy="2514600"/>
          </a:xfrm>
          <a:prstGeom prst="roundRect">
            <a:avLst>
              <a:gd name="adj" fmla="val 3284"/>
            </a:avLst>
          </a:prstGeom>
          <a:solidFill>
            <a:srgbClr val="2D3748"/>
          </a:solidFill>
          <a:ln/>
          <a:effectLst>
            <a:outerShdw blurRad="274320" dist="13716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918520" y="1644179"/>
            <a:ext cx="538163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2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Cluster 1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980780" y="1685813"/>
            <a:ext cx="357188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 = 4,521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2919301" y="1887810"/>
            <a:ext cx="1419225" cy="2476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3"/>
              </a:lnSpc>
              <a:spcAft>
                <a:spcPts val="607"/>
              </a:spcAft>
              <a:buNone/>
            </a:pPr>
            <a:r>
              <a:rPr lang="en-US" sz="700" b="1" dirty="0">
                <a:solidFill>
                  <a:srgbClr val="FFBCA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 Balance · Zero Engagement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2919301" y="2214339"/>
            <a:ext cx="1419225" cy="1285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6"/>
              </a:lnSpc>
              <a:spcAft>
                <a:spcPts val="162"/>
              </a:spcAft>
              <a:buNone/>
            </a:pPr>
            <a:r>
              <a:rPr lang="en-US" sz="6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Churn rate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2919301" y="2363912"/>
            <a:ext cx="1419225" cy="2476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44"/>
              </a:lnSpc>
              <a:spcAft>
                <a:spcPts val="405"/>
              </a:spcAft>
              <a:buNone/>
            </a:pPr>
            <a:r>
              <a:rPr lang="en-US" sz="1200" b="1" dirty="0">
                <a:solidFill>
                  <a:srgbClr val="FFBCA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26.8%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919301" y="2663428"/>
            <a:ext cx="1419225" cy="1285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6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Avg balance: </a:t>
            </a:r>
            <a:r>
              <a:rPr lang="en-US" sz="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£79,011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2919301" y="2814191"/>
            <a:ext cx="1419225" cy="1285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6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Avg products: </a:t>
            </a:r>
            <a:r>
              <a:rPr lang="en-US" sz="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1.47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2919301" y="2964954"/>
            <a:ext cx="1419225" cy="1285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6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Active: </a:t>
            </a:r>
            <a:r>
              <a:rPr lang="en-US" sz="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0.0%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2919301" y="3115717"/>
            <a:ext cx="1419225" cy="1285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6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Has card: </a:t>
            </a:r>
            <a:r>
              <a:rPr lang="en-US" sz="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0.0%</a:t>
            </a:r>
            <a:endParaRPr lang="en-US" sz="600" dirty="0"/>
          </a:p>
        </p:txBody>
      </p:sp>
      <p:sp>
        <p:nvSpPr>
          <p:cNvPr id="31" name="Shape 29"/>
          <p:cNvSpPr/>
          <p:nvPr/>
        </p:nvSpPr>
        <p:spPr>
          <a:xfrm>
            <a:off x="4640945" y="1435522"/>
            <a:ext cx="1747838" cy="2514600"/>
          </a:xfrm>
          <a:prstGeom prst="roundRect">
            <a:avLst>
              <a:gd name="adj" fmla="val 3284"/>
            </a:avLst>
          </a:prstGeom>
          <a:solidFill>
            <a:srgbClr val="FFFFFF"/>
          </a:solidFill>
          <a:ln/>
          <a:effectLst>
            <a:outerShdw blurRad="182880" dist="9144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805846" y="1644179"/>
            <a:ext cx="561975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2"/>
              </a:lnSpc>
              <a:buNone/>
            </a:pPr>
            <a:r>
              <a:rPr lang="en-US" sz="1000" b="1" dirty="0">
                <a:solidFill>
                  <a:srgbClr val="1A20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Cluster 2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862079" y="1685813"/>
            <a:ext cx="361950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00" dirty="0">
                <a:solidFill>
                  <a:srgbClr val="71809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 = 1,943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4805251" y="1887327"/>
            <a:ext cx="1419225" cy="123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3"/>
              </a:lnSpc>
              <a:spcAft>
                <a:spcPts val="607"/>
              </a:spcAft>
              <a:buNone/>
            </a:pPr>
            <a:r>
              <a:rPr lang="en-US" sz="700" b="1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Low Balance · No Card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4805251" y="2089547"/>
            <a:ext cx="1419225" cy="1285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6"/>
              </a:lnSpc>
              <a:spcAft>
                <a:spcPts val="162"/>
              </a:spcAft>
              <a:buNone/>
            </a:pPr>
            <a:r>
              <a:rPr lang="en-US" sz="600" dirty="0">
                <a:solidFill>
                  <a:srgbClr val="71809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Churn rate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4805251" y="2239119"/>
            <a:ext cx="1419225" cy="2476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44"/>
              </a:lnSpc>
              <a:spcAft>
                <a:spcPts val="405"/>
              </a:spcAft>
              <a:buNone/>
            </a:pPr>
            <a:r>
              <a:rPr lang="en-US" sz="1200" b="1" dirty="0">
                <a:solidFill>
                  <a:srgbClr val="1A20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12.2%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805251" y="2538636"/>
            <a:ext cx="1419225" cy="1285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6"/>
              </a:lnSpc>
              <a:buNone/>
            </a:pPr>
            <a:r>
              <a:rPr lang="en-US" sz="6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Avg balance: </a:t>
            </a:r>
            <a:r>
              <a:rPr lang="en-US" sz="600" b="1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£11,270</a:t>
            </a:r>
            <a:endParaRPr lang="en-US" sz="600" dirty="0"/>
          </a:p>
        </p:txBody>
      </p:sp>
      <p:sp>
        <p:nvSpPr>
          <p:cNvPr id="38" name="Text 36"/>
          <p:cNvSpPr/>
          <p:nvPr/>
        </p:nvSpPr>
        <p:spPr>
          <a:xfrm>
            <a:off x="4805251" y="2689399"/>
            <a:ext cx="1419225" cy="1285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6"/>
              </a:lnSpc>
              <a:buNone/>
            </a:pPr>
            <a:r>
              <a:rPr lang="en-US" sz="6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Avg products: </a:t>
            </a:r>
            <a:r>
              <a:rPr lang="en-US" sz="600" b="1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1.84</a:t>
            </a:r>
            <a:endParaRPr lang="en-US" sz="600" dirty="0"/>
          </a:p>
        </p:txBody>
      </p:sp>
      <p:sp>
        <p:nvSpPr>
          <p:cNvPr id="39" name="Text 37"/>
          <p:cNvSpPr/>
          <p:nvPr/>
        </p:nvSpPr>
        <p:spPr>
          <a:xfrm>
            <a:off x="4805251" y="2840162"/>
            <a:ext cx="1419225" cy="1285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6"/>
              </a:lnSpc>
              <a:buNone/>
            </a:pPr>
            <a:r>
              <a:rPr lang="en-US" sz="6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Active: </a:t>
            </a:r>
            <a:r>
              <a:rPr lang="en-US" sz="600" b="1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100%</a:t>
            </a:r>
            <a:endParaRPr lang="en-US" sz="600" dirty="0"/>
          </a:p>
        </p:txBody>
      </p:sp>
      <p:sp>
        <p:nvSpPr>
          <p:cNvPr id="40" name="Text 38"/>
          <p:cNvSpPr/>
          <p:nvPr/>
        </p:nvSpPr>
        <p:spPr>
          <a:xfrm>
            <a:off x="4805251" y="2990924"/>
            <a:ext cx="1419225" cy="1285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6"/>
              </a:lnSpc>
              <a:buNone/>
            </a:pPr>
            <a:r>
              <a:rPr lang="en-US" sz="6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Has card: </a:t>
            </a:r>
            <a:r>
              <a:rPr lang="en-US" sz="600" b="1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100%</a:t>
            </a:r>
            <a:endParaRPr lang="en-US" sz="600" dirty="0"/>
          </a:p>
        </p:txBody>
      </p:sp>
      <p:sp>
        <p:nvSpPr>
          <p:cNvPr id="41" name="Shape 39"/>
          <p:cNvSpPr/>
          <p:nvPr/>
        </p:nvSpPr>
        <p:spPr>
          <a:xfrm>
            <a:off x="6526895" y="1435522"/>
            <a:ext cx="1747838" cy="2514600"/>
          </a:xfrm>
          <a:prstGeom prst="roundRect">
            <a:avLst>
              <a:gd name="adj" fmla="val 3284"/>
            </a:avLst>
          </a:prstGeom>
          <a:solidFill>
            <a:srgbClr val="FFFFFF"/>
          </a:solidFill>
          <a:ln/>
          <a:effectLst>
            <a:outerShdw blurRad="182880" dist="9144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6691238" y="1644179"/>
            <a:ext cx="566738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2"/>
              </a:lnSpc>
              <a:buNone/>
            </a:pPr>
            <a:r>
              <a:rPr lang="en-US" sz="1000" b="1" dirty="0">
                <a:solidFill>
                  <a:srgbClr val="1A20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Cluster 3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735305" y="1685813"/>
            <a:ext cx="376238" cy="1381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00" dirty="0">
                <a:solidFill>
                  <a:srgbClr val="71809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 = 2,827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6691201" y="1887327"/>
            <a:ext cx="1419225" cy="123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3"/>
              </a:lnSpc>
              <a:spcAft>
                <a:spcPts val="607"/>
              </a:spcAft>
              <a:buNone/>
            </a:pPr>
            <a:r>
              <a:rPr lang="en-US" sz="700" b="1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 Balance · Fully Engaged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6691201" y="2089547"/>
            <a:ext cx="1419225" cy="1285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6"/>
              </a:lnSpc>
              <a:spcAft>
                <a:spcPts val="162"/>
              </a:spcAft>
              <a:buNone/>
            </a:pPr>
            <a:r>
              <a:rPr lang="en-US" sz="600" dirty="0">
                <a:solidFill>
                  <a:srgbClr val="71809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Churn rate</a:t>
            </a:r>
            <a:endParaRPr lang="en-US" sz="600" dirty="0"/>
          </a:p>
        </p:txBody>
      </p:sp>
      <p:sp>
        <p:nvSpPr>
          <p:cNvPr id="46" name="Text 44"/>
          <p:cNvSpPr/>
          <p:nvPr/>
        </p:nvSpPr>
        <p:spPr>
          <a:xfrm>
            <a:off x="6691201" y="2239119"/>
            <a:ext cx="1419225" cy="2476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44"/>
              </a:lnSpc>
              <a:spcAft>
                <a:spcPts val="405"/>
              </a:spcAft>
              <a:buNone/>
            </a:pPr>
            <a:r>
              <a:rPr lang="en-US" sz="1200" b="1" dirty="0">
                <a:solidFill>
                  <a:srgbClr val="38A16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15.5%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691201" y="2538636"/>
            <a:ext cx="1419225" cy="1285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6"/>
              </a:lnSpc>
              <a:buNone/>
            </a:pPr>
            <a:r>
              <a:rPr lang="en-US" sz="6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Avg balance: </a:t>
            </a:r>
            <a:r>
              <a:rPr lang="en-US" sz="600" b="1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£122,226</a:t>
            </a:r>
            <a:endParaRPr lang="en-US" sz="600" dirty="0"/>
          </a:p>
        </p:txBody>
      </p:sp>
      <p:sp>
        <p:nvSpPr>
          <p:cNvPr id="48" name="Text 46"/>
          <p:cNvSpPr/>
          <p:nvPr/>
        </p:nvSpPr>
        <p:spPr>
          <a:xfrm>
            <a:off x="6691201" y="2689399"/>
            <a:ext cx="1419225" cy="1285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6"/>
              </a:lnSpc>
              <a:buNone/>
            </a:pPr>
            <a:r>
              <a:rPr lang="en-US" sz="6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Avg products: </a:t>
            </a:r>
            <a:r>
              <a:rPr lang="en-US" sz="600" b="1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1.25</a:t>
            </a:r>
            <a:endParaRPr lang="en-US" sz="600" dirty="0"/>
          </a:p>
        </p:txBody>
      </p:sp>
      <p:sp>
        <p:nvSpPr>
          <p:cNvPr id="49" name="Text 47"/>
          <p:cNvSpPr/>
          <p:nvPr/>
        </p:nvSpPr>
        <p:spPr>
          <a:xfrm>
            <a:off x="6691201" y="2840162"/>
            <a:ext cx="1419225" cy="1285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6"/>
              </a:lnSpc>
              <a:buNone/>
            </a:pPr>
            <a:r>
              <a:rPr lang="en-US" sz="6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Active: </a:t>
            </a:r>
            <a:r>
              <a:rPr lang="en-US" sz="600" b="1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100%</a:t>
            </a:r>
            <a:endParaRPr lang="en-US" sz="600" dirty="0"/>
          </a:p>
        </p:txBody>
      </p:sp>
      <p:sp>
        <p:nvSpPr>
          <p:cNvPr id="50" name="Text 48"/>
          <p:cNvSpPr/>
          <p:nvPr/>
        </p:nvSpPr>
        <p:spPr>
          <a:xfrm>
            <a:off x="6691201" y="2990924"/>
            <a:ext cx="1419225" cy="1285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6"/>
              </a:lnSpc>
              <a:buNone/>
            </a:pPr>
            <a:r>
              <a:rPr lang="en-US" sz="6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Has card: </a:t>
            </a:r>
            <a:r>
              <a:rPr lang="en-US" sz="600" b="1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100%</a:t>
            </a:r>
            <a:endParaRPr lang="en-US" sz="600" dirty="0"/>
          </a:p>
        </p:txBody>
      </p:sp>
      <p:sp>
        <p:nvSpPr>
          <p:cNvPr id="51" name="Text 49"/>
          <p:cNvSpPr/>
          <p:nvPr/>
        </p:nvSpPr>
        <p:spPr>
          <a:xfrm>
            <a:off x="869082" y="4052292"/>
            <a:ext cx="7405687" cy="295275"/>
          </a:xfrm>
          <a:prstGeom prst="roundRect">
            <a:avLst>
              <a:gd name="adj" fmla="val 19180"/>
            </a:avLst>
          </a:prstGeom>
          <a:solidFill>
            <a:srgbClr val="FFBCA6"/>
          </a:solidFill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09"/>
              </a:lnSpc>
              <a:spcBef>
                <a:spcPts val="810"/>
              </a:spcBef>
              <a:buNone/>
            </a:pPr>
            <a:r>
              <a:rPr lang="en-US" sz="700" b="1" dirty="0">
                <a:solidFill>
                  <a:srgbClr val="1A20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💡 Product engagement — not balance level — is the primary driver of retention.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869082" y="4398243"/>
            <a:ext cx="7405687" cy="257175"/>
          </a:xfrm>
          <a:prstGeom prst="rect">
            <a:avLst/>
          </a:prstGeom>
          <a:ln/>
        </p:spPr>
      </p:sp>
      <p:sp>
        <p:nvSpPr>
          <p:cNvPr id="53" name="Text 51"/>
          <p:cNvSpPr/>
          <p:nvPr/>
        </p:nvSpPr>
        <p:spPr>
          <a:xfrm>
            <a:off x="868561" y="4489177"/>
            <a:ext cx="1585913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96"/>
              </a:lnSpc>
              <a:buNone/>
            </a:pPr>
            <a:r>
              <a:rPr lang="en-US" sz="800" dirty="0">
                <a:solidFill>
                  <a:srgbClr val="71809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Bank Customer Churn Analysis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8166497" y="4489177"/>
            <a:ext cx="109537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96"/>
              </a:lnSpc>
              <a:buNone/>
            </a:pPr>
            <a:r>
              <a:rPr lang="en-US" sz="800" b="1" dirty="0">
                <a:solidFill>
                  <a:srgbClr val="2D374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</a:t>
            </a:r>
            <a:endParaRPr lang="en-US" sz="800" dirty="0"/>
          </a:p>
        </p:txBody>
      </p:sp>
      <p:pic>
        <p:nvPicPr>
          <p:cNvPr id="5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9045" y="1435522"/>
            <a:ext cx="1747838" cy="2514600"/>
          </a:xfrm>
          <a:prstGeom prst="rect">
            <a:avLst/>
          </a:prstGeom>
        </p:spPr>
      </p:pic>
      <p:pic>
        <p:nvPicPr>
          <p:cNvPr id="5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54995" y="1435522"/>
            <a:ext cx="1747838" cy="2514600"/>
          </a:xfrm>
          <a:prstGeom prst="rect">
            <a:avLst/>
          </a:prstGeom>
        </p:spPr>
      </p:pic>
      <p:pic>
        <p:nvPicPr>
          <p:cNvPr id="5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40945" y="1435522"/>
            <a:ext cx="1747838" cy="2514600"/>
          </a:xfrm>
          <a:prstGeom prst="rect">
            <a:avLst/>
          </a:prstGeom>
        </p:spPr>
      </p:pic>
      <p:pic>
        <p:nvPicPr>
          <p:cNvPr id="5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26895" y="1435522"/>
            <a:ext cx="1747838" cy="2514600"/>
          </a:xfrm>
          <a:prstGeom prst="rect">
            <a:avLst/>
          </a:prstGeom>
        </p:spPr>
      </p:pic>
      <p:pic>
        <p:nvPicPr>
          <p:cNvPr id="59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69082" y="4398243"/>
            <a:ext cx="7405687" cy="25717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0" y="-771525"/>
            <a:ext cx="4114800" cy="4114800"/>
          </a:xfrm>
          <a:prstGeom prst="ellipse">
            <a:avLst/>
          </a:prstGeom>
          <a:solidFill>
            <a:srgbClr val="F4E8C1"/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2457450"/>
            <a:ext cx="3200400" cy="3200400"/>
          </a:xfrm>
          <a:prstGeom prst="ellipse">
            <a:avLst/>
          </a:prstGeom>
          <a:solidFill>
            <a:srgbClr val="AED9E0"/>
          </a:solidFill>
          <a:ln/>
        </p:spPr>
      </p:sp>
      <p:sp>
        <p:nvSpPr>
          <p:cNvPr id="5" name="Shape 3"/>
          <p:cNvSpPr/>
          <p:nvPr/>
        </p:nvSpPr>
        <p:spPr>
          <a:xfrm rot="900000">
            <a:off x="5028233" y="1028216"/>
            <a:ext cx="733425" cy="2195513"/>
          </a:xfrm>
          <a:prstGeom prst="roundRect">
            <a:avLst>
              <a:gd name="adj" fmla="val 62176"/>
            </a:avLst>
          </a:prstGeom>
          <a:solidFill>
            <a:srgbClr val="FFBCA6"/>
          </a:solidFill>
          <a:ln/>
        </p:spPr>
      </p:sp>
      <p:sp>
        <p:nvSpPr>
          <p:cNvPr id="6" name="Shape 4"/>
          <p:cNvSpPr/>
          <p:nvPr/>
        </p:nvSpPr>
        <p:spPr>
          <a:xfrm>
            <a:off x="547613" y="309525"/>
            <a:ext cx="8048625" cy="4524375"/>
          </a:xfrm>
          <a:prstGeom prst="roundRect">
            <a:avLst>
              <a:gd name="adj" fmla="val 817"/>
            </a:avLst>
          </a:prstGeom>
          <a:solidFill>
            <a:srgbClr val="FFFFFF">
              <a:alpha val="4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867594" y="487635"/>
            <a:ext cx="276225" cy="276225"/>
          </a:xfrm>
          <a:prstGeom prst="roundRect">
            <a:avLst>
              <a:gd name="adj" fmla="val 21917"/>
            </a:avLst>
          </a:prstGeom>
          <a:solidFill>
            <a:srgbClr val="2D3748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2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233971" y="523354"/>
            <a:ext cx="776287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000" b="1" dirty="0">
                <a:solidFill>
                  <a:srgbClr val="2D374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ds.portfolio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157256" y="516173"/>
            <a:ext cx="1119188" cy="219075"/>
          </a:xfrm>
          <a:prstGeom prst="roundRect">
            <a:avLst>
              <a:gd name="adj" fmla="val 52174"/>
            </a:avLst>
          </a:prstGeom>
          <a:solidFill>
            <a:srgbClr val="FFBCA6"/>
          </a:solidFill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00" b="1" dirty="0">
                <a:solidFill>
                  <a:srgbClr val="2D374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Recommendations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869082" y="866849"/>
            <a:ext cx="7405687" cy="2857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68"/>
              </a:lnSpc>
              <a:spcAft>
                <a:spcPts val="203"/>
              </a:spcAft>
              <a:buNone/>
            </a:pPr>
            <a:r>
              <a:rPr lang="en-US" sz="2100" b="1" dirty="0">
                <a:solidFill>
                  <a:srgbClr val="1A20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Five actions, ranked by feasibility.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869082" y="1178347"/>
            <a:ext cx="7405687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9"/>
              </a:lnSpc>
              <a:spcAft>
                <a:spcPts val="1013"/>
              </a:spcAft>
              <a:buNone/>
            </a:pPr>
            <a:r>
              <a:rPr lang="en-US" sz="7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From production deployment of the model to quarterly recalibration — each tied to a measurable outcome.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869045" y="1448395"/>
            <a:ext cx="2376487" cy="1419225"/>
          </a:xfrm>
          <a:prstGeom prst="roundRect">
            <a:avLst>
              <a:gd name="adj" fmla="val 4981"/>
            </a:avLst>
          </a:prstGeom>
          <a:solidFill>
            <a:srgbClr val="2D3748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706" y="1585913"/>
            <a:ext cx="228600" cy="228600"/>
          </a:xfrm>
          <a:prstGeom prst="roundRect">
            <a:avLst>
              <a:gd name="adj" fmla="val 20000"/>
            </a:avLst>
          </a:prstGeom>
          <a:solidFill>
            <a:srgbClr val="FFBCA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4"/>
              </a:lnSpc>
              <a:buNone/>
            </a:pPr>
            <a:r>
              <a:rPr lang="en-US" sz="900" b="1" dirty="0">
                <a:solidFill>
                  <a:srgbClr val="1A20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308274" y="1612069"/>
            <a:ext cx="1390650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4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Deploy tuned RF @ 0.34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04776" y="1854398"/>
            <a:ext cx="2105025" cy="5143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8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Replace the LR baseline as the production scoring engine. Score monthly, flag anyone above 0.34 for retention outreach. </a:t>
            </a:r>
            <a:r>
              <a:rPr lang="en-US" sz="700" b="1" dirty="0">
                <a:solidFill>
                  <a:srgbClr val="AED9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Short-term</a:t>
            </a:r>
            <a:r>
              <a:rPr lang="en-US" sz="7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model is ready.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869045" y="2928565"/>
            <a:ext cx="2376487" cy="1419225"/>
          </a:xfrm>
          <a:prstGeom prst="roundRect">
            <a:avLst>
              <a:gd name="adj" fmla="val 4981"/>
            </a:avLst>
          </a:prstGeom>
          <a:solidFill>
            <a:srgbClr val="FFFFFF"/>
          </a:solidFill>
          <a:ln/>
          <a:effectLst>
            <a:outerShdw blurRad="137160" dist="4572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39044" y="3066083"/>
            <a:ext cx="228600" cy="228600"/>
          </a:xfrm>
          <a:prstGeom prst="roundRect">
            <a:avLst>
              <a:gd name="adj" fmla="val 20000"/>
            </a:avLst>
          </a:prstGeom>
          <a:solidFill>
            <a:srgbClr val="C8B6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4"/>
              </a:lnSpc>
              <a:buNone/>
            </a:pPr>
            <a:r>
              <a:rPr lang="en-US" sz="900" b="1" dirty="0">
                <a:solidFill>
                  <a:srgbClr val="1A20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341909" y="3092239"/>
            <a:ext cx="1200150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4"/>
              </a:lnSpc>
              <a:buNone/>
            </a:pPr>
            <a:r>
              <a:rPr lang="en-US" sz="900" b="1" dirty="0">
                <a:solidFill>
                  <a:srgbClr val="1A20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High-touch Cluster 1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38113" y="3334866"/>
            <a:ext cx="2071688" cy="3857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8"/>
              </a:lnSpc>
              <a:buNone/>
            </a:pPr>
            <a:r>
              <a:rPr lang="en-US" sz="7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4,521 high-balance, zero-engagement customers. Wealth consultations + product-led offers. </a:t>
            </a:r>
            <a:r>
              <a:rPr lang="en-US" sz="700" b="1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Highest revenue at risk.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3383645" y="1448395"/>
            <a:ext cx="2376487" cy="1419225"/>
          </a:xfrm>
          <a:prstGeom prst="roundRect">
            <a:avLst>
              <a:gd name="adj" fmla="val 4981"/>
            </a:avLst>
          </a:prstGeom>
          <a:solidFill>
            <a:srgbClr val="FFFFFF"/>
          </a:solidFill>
          <a:ln/>
          <a:effectLst>
            <a:outerShdw blurRad="137160" dist="4572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553644" y="1585913"/>
            <a:ext cx="228600" cy="228600"/>
          </a:xfrm>
          <a:prstGeom prst="roundRect">
            <a:avLst>
              <a:gd name="adj" fmla="val 20000"/>
            </a:avLst>
          </a:prstGeom>
          <a:solidFill>
            <a:srgbClr val="AED9E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4"/>
              </a:lnSpc>
              <a:buNone/>
            </a:pPr>
            <a:r>
              <a:rPr lang="en-US" sz="900" b="1" dirty="0">
                <a:solidFill>
                  <a:srgbClr val="1A20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854500" y="1612069"/>
            <a:ext cx="1604963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4"/>
              </a:lnSpc>
              <a:buNone/>
            </a:pPr>
            <a:r>
              <a:rPr lang="en-US" sz="900" b="1" dirty="0">
                <a:solidFill>
                  <a:srgbClr val="1A20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Card cross-sell to Cluster 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552713" y="1854696"/>
            <a:ext cx="2071688" cy="3857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8"/>
              </a:lnSpc>
              <a:buNone/>
            </a:pPr>
            <a:r>
              <a:rPr lang="en-US" sz="7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1,943 card-less but fully active customers. Entry-level cashback card to deepen the relationship. </a:t>
            </a:r>
            <a:r>
              <a:rPr lang="en-US" sz="700" b="1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Medium-term.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3383645" y="2928565"/>
            <a:ext cx="2376487" cy="1419225"/>
          </a:xfrm>
          <a:prstGeom prst="roundRect">
            <a:avLst>
              <a:gd name="adj" fmla="val 4981"/>
            </a:avLst>
          </a:prstGeom>
          <a:solidFill>
            <a:srgbClr val="FFFFFF"/>
          </a:solidFill>
          <a:ln/>
          <a:effectLst>
            <a:outerShdw blurRad="137160" dist="4572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553644" y="3066083"/>
            <a:ext cx="228600" cy="228600"/>
          </a:xfrm>
          <a:prstGeom prst="roundRect">
            <a:avLst>
              <a:gd name="adj" fmla="val 20000"/>
            </a:avLst>
          </a:prstGeom>
          <a:solidFill>
            <a:srgbClr val="FFBCA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4"/>
              </a:lnSpc>
              <a:buNone/>
            </a:pPr>
            <a:r>
              <a:rPr lang="en-US" sz="900" b="1" dirty="0">
                <a:solidFill>
                  <a:srgbClr val="1A20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855913" y="3092239"/>
            <a:ext cx="1695450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4"/>
              </a:lnSpc>
              <a:buNone/>
            </a:pPr>
            <a:r>
              <a:rPr lang="en-US" sz="900" b="1" dirty="0">
                <a:solidFill>
                  <a:srgbClr val="1A20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Tenure milestones · Cluster 0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552713" y="3334866"/>
            <a:ext cx="2071688" cy="3857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8"/>
              </a:lnSpc>
              <a:buNone/>
            </a:pPr>
            <a:r>
              <a:rPr lang="en-US" sz="7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709 early-tenure enthusiasts. 6 + 12 month loyalty rewards to anchor the critical first year. </a:t>
            </a:r>
            <a:r>
              <a:rPr lang="en-US" sz="700" b="1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Medium-term.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5898245" y="1449549"/>
            <a:ext cx="2376487" cy="1509712"/>
          </a:xfrm>
          <a:prstGeom prst="roundRect">
            <a:avLst>
              <a:gd name="adj" fmla="val 4402"/>
            </a:avLst>
          </a:prstGeom>
          <a:solidFill>
            <a:srgbClr val="F4E8C1"/>
          </a:solidFill>
          <a:ln/>
        </p:spPr>
      </p:sp>
      <p:sp>
        <p:nvSpPr>
          <p:cNvPr id="29" name="Text 27"/>
          <p:cNvSpPr/>
          <p:nvPr/>
        </p:nvSpPr>
        <p:spPr>
          <a:xfrm>
            <a:off x="6034906" y="1585913"/>
            <a:ext cx="228600" cy="228600"/>
          </a:xfrm>
          <a:prstGeom prst="roundRect">
            <a:avLst>
              <a:gd name="adj" fmla="val 20000"/>
            </a:avLst>
          </a:prstGeom>
          <a:solidFill>
            <a:srgbClr val="2D3748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4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335799" y="1612069"/>
            <a:ext cx="1347788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4"/>
              </a:lnSpc>
              <a:buNone/>
            </a:pPr>
            <a:r>
              <a:rPr lang="en-US" sz="900" b="1" dirty="0">
                <a:solidFill>
                  <a:srgbClr val="1A20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Quarterly recalibration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033976" y="1854398"/>
            <a:ext cx="2105025" cy="5143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8"/>
              </a:lnSpc>
              <a:buNone/>
            </a:pPr>
            <a:r>
              <a:rPr lang="en-US" sz="7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Re-tune threshold and refit model every quarter. Without it, performance silently degrades as the customer mix shifts. </a:t>
            </a:r>
            <a:r>
              <a:rPr lang="en-US" sz="700" b="1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Ongoing — low effort, high impact.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5898245" y="3022588"/>
            <a:ext cx="2376487" cy="1323975"/>
          </a:xfrm>
          <a:prstGeom prst="roundRect">
            <a:avLst>
              <a:gd name="adj" fmla="val 5724"/>
            </a:avLst>
          </a:prstGeom>
          <a:solidFill>
            <a:srgbClr val="1A202C"/>
          </a:solidFill>
          <a:ln/>
        </p:spPr>
      </p:sp>
      <p:sp>
        <p:nvSpPr>
          <p:cNvPr id="33" name="Text 31"/>
          <p:cNvSpPr/>
          <p:nvPr/>
        </p:nvSpPr>
        <p:spPr>
          <a:xfrm>
            <a:off x="6033976" y="3390937"/>
            <a:ext cx="2105025" cy="123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2"/>
              </a:lnSpc>
              <a:spcAft>
                <a:spcPts val="324"/>
              </a:spcAft>
              <a:buNone/>
            </a:pPr>
            <a:r>
              <a:rPr lang="en-US" sz="600" b="1" dirty="0">
                <a:solidFill>
                  <a:srgbClr val="FFBCA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EXPECTED IMPACT</a:t>
            </a:r>
            <a:endParaRPr lang="en-US" sz="600" dirty="0"/>
          </a:p>
        </p:txBody>
      </p:sp>
      <p:sp>
        <p:nvSpPr>
          <p:cNvPr id="34" name="Text 32"/>
          <p:cNvSpPr/>
          <p:nvPr/>
        </p:nvSpPr>
        <p:spPr>
          <a:xfrm>
            <a:off x="6033976" y="3554909"/>
            <a:ext cx="2105025" cy="42386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9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Even a </a:t>
            </a:r>
            <a:r>
              <a:rPr lang="en-US" sz="700" b="1" dirty="0">
                <a:solidFill>
                  <a:srgbClr val="AED9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10–15% retention success rate</a:t>
            </a:r>
            <a:r>
              <a:rPr lang="en-US" sz="7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on flagged customers preserves significant deposits at an avg balance of </a:t>
            </a:r>
            <a:r>
              <a:rPr lang="en-US" sz="7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£76,486</a:t>
            </a:r>
            <a:r>
              <a:rPr lang="en-US" sz="7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869082" y="4398243"/>
            <a:ext cx="7405687" cy="257175"/>
          </a:xfrm>
          <a:prstGeom prst="rect">
            <a:avLst/>
          </a:prstGeom>
          <a:ln/>
        </p:spPr>
      </p:sp>
      <p:sp>
        <p:nvSpPr>
          <p:cNvPr id="36" name="Text 34"/>
          <p:cNvSpPr/>
          <p:nvPr/>
        </p:nvSpPr>
        <p:spPr>
          <a:xfrm>
            <a:off x="868561" y="4489177"/>
            <a:ext cx="1585913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96"/>
              </a:lnSpc>
              <a:buNone/>
            </a:pPr>
            <a:r>
              <a:rPr lang="en-US" sz="800" dirty="0">
                <a:solidFill>
                  <a:srgbClr val="71809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Bank Customer Churn Analysis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8165753" y="4489177"/>
            <a:ext cx="109537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96"/>
              </a:lnSpc>
              <a:buNone/>
            </a:pPr>
            <a:r>
              <a:rPr lang="en-US" sz="800" b="1" dirty="0">
                <a:solidFill>
                  <a:srgbClr val="2D374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16</a:t>
            </a:r>
            <a:endParaRPr lang="en-US" sz="800" dirty="0"/>
          </a:p>
        </p:txBody>
      </p:sp>
      <p:pic>
        <p:nvPicPr>
          <p:cNvPr id="3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9045" y="2928565"/>
            <a:ext cx="2376487" cy="1419225"/>
          </a:xfrm>
          <a:prstGeom prst="rect">
            <a:avLst/>
          </a:prstGeom>
        </p:spPr>
      </p:pic>
      <p:pic>
        <p:nvPicPr>
          <p:cNvPr id="3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83645" y="1448395"/>
            <a:ext cx="2376487" cy="1419225"/>
          </a:xfrm>
          <a:prstGeom prst="rect">
            <a:avLst/>
          </a:prstGeom>
        </p:spPr>
      </p:pic>
      <p:pic>
        <p:nvPicPr>
          <p:cNvPr id="4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83645" y="2928565"/>
            <a:ext cx="2376487" cy="1419225"/>
          </a:xfrm>
          <a:prstGeom prst="rect">
            <a:avLst/>
          </a:prstGeom>
        </p:spPr>
      </p:pic>
      <p:pic>
        <p:nvPicPr>
          <p:cNvPr id="4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69082" y="4398243"/>
            <a:ext cx="7405687" cy="25717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0" y="-771525"/>
            <a:ext cx="4114800" cy="4114800"/>
          </a:xfrm>
          <a:prstGeom prst="ellipse">
            <a:avLst/>
          </a:prstGeom>
          <a:solidFill>
            <a:srgbClr val="F4E8C1"/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2457450"/>
            <a:ext cx="3200400" cy="3200400"/>
          </a:xfrm>
          <a:prstGeom prst="ellipse">
            <a:avLst/>
          </a:prstGeom>
          <a:solidFill>
            <a:srgbClr val="AED9E0"/>
          </a:solidFill>
          <a:ln/>
        </p:spPr>
      </p:sp>
      <p:sp>
        <p:nvSpPr>
          <p:cNvPr id="5" name="Shape 3"/>
          <p:cNvSpPr/>
          <p:nvPr/>
        </p:nvSpPr>
        <p:spPr>
          <a:xfrm rot="900000">
            <a:off x="5028233" y="1028216"/>
            <a:ext cx="733425" cy="2195513"/>
          </a:xfrm>
          <a:prstGeom prst="roundRect">
            <a:avLst>
              <a:gd name="adj" fmla="val 62176"/>
            </a:avLst>
          </a:prstGeom>
          <a:solidFill>
            <a:srgbClr val="FFBCA6"/>
          </a:solidFill>
          <a:ln/>
        </p:spPr>
      </p:sp>
      <p:sp>
        <p:nvSpPr>
          <p:cNvPr id="6" name="Shape 4"/>
          <p:cNvSpPr/>
          <p:nvPr/>
        </p:nvSpPr>
        <p:spPr>
          <a:xfrm>
            <a:off x="6218895" y="2761320"/>
            <a:ext cx="1095375" cy="1095375"/>
          </a:xfrm>
          <a:prstGeom prst="ellipse">
            <a:avLst/>
          </a:prstGeom>
          <a:solidFill>
            <a:srgbClr val="C8B6FF"/>
          </a:solidFill>
          <a:ln/>
        </p:spPr>
      </p:sp>
      <p:sp>
        <p:nvSpPr>
          <p:cNvPr id="7" name="Shape 5"/>
          <p:cNvSpPr/>
          <p:nvPr/>
        </p:nvSpPr>
        <p:spPr>
          <a:xfrm>
            <a:off x="8046281" y="2056916"/>
            <a:ext cx="366712" cy="366712"/>
          </a:xfrm>
          <a:prstGeom prst="ellipse">
            <a:avLst/>
          </a:prstGeom>
          <a:solidFill>
            <a:srgbClr val="AED9E0"/>
          </a:solidFill>
          <a:ln/>
        </p:spPr>
      </p:sp>
      <p:sp>
        <p:nvSpPr>
          <p:cNvPr id="8" name="Shape 6"/>
          <p:cNvSpPr/>
          <p:nvPr/>
        </p:nvSpPr>
        <p:spPr>
          <a:xfrm>
            <a:off x="731081" y="460082"/>
            <a:ext cx="7681912" cy="4319588"/>
          </a:xfrm>
          <a:prstGeom prst="roundRect">
            <a:avLst>
              <a:gd name="adj" fmla="val 896"/>
            </a:avLst>
          </a:prstGeom>
          <a:solidFill>
            <a:srgbClr val="FFFFFF">
              <a:alpha val="4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096268" y="616148"/>
            <a:ext cx="276225" cy="276225"/>
          </a:xfrm>
          <a:prstGeom prst="roundRect">
            <a:avLst>
              <a:gd name="adj" fmla="val 21917"/>
            </a:avLst>
          </a:prstGeom>
          <a:solidFill>
            <a:srgbClr val="2D3748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2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462646" y="651867"/>
            <a:ext cx="776287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000" b="1" dirty="0">
                <a:solidFill>
                  <a:srgbClr val="2D374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ds.portfolio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4233" y="644686"/>
            <a:ext cx="733425" cy="219075"/>
          </a:xfrm>
          <a:prstGeom prst="roundRect">
            <a:avLst>
              <a:gd name="adj" fmla="val 52174"/>
            </a:avLst>
          </a:prstGeom>
          <a:solidFill>
            <a:srgbClr val="C8B6FF"/>
          </a:solidFill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00" b="1" dirty="0">
                <a:solidFill>
                  <a:srgbClr val="2D374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   Thank You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3931696" y="678060"/>
            <a:ext cx="1090613" cy="214313"/>
          </a:xfrm>
          <a:prstGeom prst="roundRect">
            <a:avLst>
              <a:gd name="adj" fmla="val 53333"/>
            </a:avLst>
          </a:prstGeom>
          <a:solidFill>
            <a:srgbClr val="2D3748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96"/>
              </a:lnSpc>
              <a:spcAft>
                <a:spcPts val="1215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END OF DECK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158914" y="1275420"/>
            <a:ext cx="2824163" cy="57626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536"/>
              </a:lnSpc>
              <a:spcAft>
                <a:spcPts val="810"/>
              </a:spcAft>
              <a:buNone/>
            </a:pPr>
            <a:r>
              <a:rPr lang="en-US" sz="4300" b="1" dirty="0">
                <a:solidFill>
                  <a:srgbClr val="1A20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Thank you.</a:t>
            </a:r>
            <a:endParaRPr lang="en-US" sz="4300" dirty="0"/>
          </a:p>
        </p:txBody>
      </p:sp>
      <p:sp>
        <p:nvSpPr>
          <p:cNvPr id="14" name="Text 12"/>
          <p:cNvSpPr/>
          <p:nvPr/>
        </p:nvSpPr>
        <p:spPr>
          <a:xfrm>
            <a:off x="2057326" y="2530078"/>
            <a:ext cx="5029200" cy="46196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14"/>
              </a:lnSpc>
              <a:spcAft>
                <a:spcPts val="2025"/>
              </a:spcAft>
              <a:buNone/>
            </a:pPr>
            <a:r>
              <a:rPr lang="en-US" sz="12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Questions, feedback, or curious about the notebook? I'd love to hear from you.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930723" y="3249067"/>
            <a:ext cx="1738312" cy="404813"/>
          </a:xfrm>
          <a:prstGeom prst="roundRect">
            <a:avLst>
              <a:gd name="adj" fmla="val 28235"/>
            </a:avLst>
          </a:prstGeom>
          <a:solidFill>
            <a:srgbClr val="FFBCA6"/>
          </a:solidFill>
          <a:ln/>
          <a:effectLst>
            <a:outerShdw blurRad="182880" dist="91440" dir="5400000" algn="bl" rotWithShape="0">
              <a:srgbClr val="FFBCA6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12"/>
              </a:lnSpc>
              <a:buNone/>
            </a:pPr>
            <a:r>
              <a:rPr lang="en-US" sz="1000" b="1" dirty="0">
                <a:solidFill>
                  <a:srgbClr val="1A20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View the Notebook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54647" y="3281237"/>
            <a:ext cx="1266210" cy="357872"/>
          </a:xfrm>
          <a:prstGeom prst="roundRect">
            <a:avLst>
              <a:gd name="adj" fmla="val 28235"/>
            </a:avLst>
          </a:prstGeom>
          <a:ln w="14288">
            <a:solidFill>
              <a:srgbClr val="2D3748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12"/>
              </a:lnSpc>
              <a:buNone/>
            </a:pPr>
            <a:r>
              <a:rPr lang="en-US" sz="1000" b="1" dirty="0">
                <a:solidFill>
                  <a:srgbClr val="2D3748"/>
                </a:solidFill>
                <a:latin typeface="DM Sans" pitchFamily="34" charset="0"/>
                <a:ea typeface="DM Sans" pitchFamily="34" charset="-122"/>
                <a:cs typeface="DM Sans" pitchFamily="34" charset="-120"/>
                <a:hlinkClick r:id="rId3"/>
              </a:rPr>
              <a:t>Get in Touch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097719" y="4244876"/>
            <a:ext cx="6948488" cy="280987"/>
          </a:xfrm>
          <a:prstGeom prst="rect">
            <a:avLst/>
          </a:prstGeom>
          <a:ln/>
        </p:spPr>
      </p:sp>
      <p:sp>
        <p:nvSpPr>
          <p:cNvPr id="18" name="Text 16"/>
          <p:cNvSpPr/>
          <p:nvPr/>
        </p:nvSpPr>
        <p:spPr>
          <a:xfrm>
            <a:off x="1096975" y="4360590"/>
            <a:ext cx="2809875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96"/>
              </a:lnSpc>
              <a:buNone/>
            </a:pPr>
            <a:r>
              <a:rPr lang="en-US" sz="800" dirty="0">
                <a:solidFill>
                  <a:srgbClr val="71809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Bank Customer Churn Analysis · Data Science Portfolio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7590234" y="4398690"/>
            <a:ext cx="90488" cy="90488"/>
          </a:xfrm>
          <a:prstGeom prst="ellipse">
            <a:avLst/>
          </a:prstGeom>
          <a:solidFill>
            <a:srgbClr val="FFBCA6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995" y="4398690"/>
            <a:ext cx="90488" cy="90488"/>
          </a:xfrm>
          <a:prstGeom prst="ellipse">
            <a:avLst/>
          </a:prstGeom>
          <a:solidFill>
            <a:srgbClr val="AED9E0"/>
          </a:solidFill>
          <a:ln/>
        </p:spPr>
      </p:sp>
      <p:sp>
        <p:nvSpPr>
          <p:cNvPr id="21" name="Shape 19"/>
          <p:cNvSpPr/>
          <p:nvPr/>
        </p:nvSpPr>
        <p:spPr>
          <a:xfrm>
            <a:off x="7955756" y="4398690"/>
            <a:ext cx="90488" cy="90488"/>
          </a:xfrm>
          <a:prstGeom prst="ellipse">
            <a:avLst/>
          </a:prstGeom>
          <a:solidFill>
            <a:srgbClr val="C8B6FF"/>
          </a:solidFill>
          <a:ln/>
        </p:spPr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7719" y="4244876"/>
            <a:ext cx="6948488" cy="28098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1775</Words>
  <Application>Microsoft Office PowerPoint</Application>
  <PresentationFormat>On-screen Show (16:9)</PresentationFormat>
  <Paragraphs>340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DM Sans</vt:lpstr>
      <vt:lpstr>monospace</vt:lpstr>
      <vt:lpstr>ui-monospace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Debadrita Deb</cp:lastModifiedBy>
  <cp:revision>5</cp:revision>
  <dcterms:created xsi:type="dcterms:W3CDTF">2026-04-30T15:30:50Z</dcterms:created>
  <dcterms:modified xsi:type="dcterms:W3CDTF">2026-05-01T03:17:53Z</dcterms:modified>
</cp:coreProperties>
</file>